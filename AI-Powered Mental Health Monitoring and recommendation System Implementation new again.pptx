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2"/>
  </p:notesMasterIdLst>
  <p:handoutMasterIdLst>
    <p:handoutMasterId r:id="rId43"/>
  </p:handoutMasterIdLst>
  <p:sldIdLst>
    <p:sldId id="257" r:id="rId5"/>
    <p:sldId id="292" r:id="rId6"/>
    <p:sldId id="268" r:id="rId7"/>
    <p:sldId id="290" r:id="rId8"/>
    <p:sldId id="291" r:id="rId9"/>
    <p:sldId id="298" r:id="rId10"/>
    <p:sldId id="300" r:id="rId11"/>
    <p:sldId id="301" r:id="rId12"/>
    <p:sldId id="302" r:id="rId13"/>
    <p:sldId id="303" r:id="rId14"/>
    <p:sldId id="304" r:id="rId15"/>
    <p:sldId id="305" r:id="rId16"/>
    <p:sldId id="282" r:id="rId17"/>
    <p:sldId id="283" r:id="rId18"/>
    <p:sldId id="284" r:id="rId19"/>
    <p:sldId id="285" r:id="rId20"/>
    <p:sldId id="286" r:id="rId21"/>
    <p:sldId id="287" r:id="rId22"/>
    <p:sldId id="288" r:id="rId23"/>
    <p:sldId id="289" r:id="rId24"/>
    <p:sldId id="306" r:id="rId25"/>
    <p:sldId id="307" r:id="rId26"/>
    <p:sldId id="308" r:id="rId27"/>
    <p:sldId id="309" r:id="rId28"/>
    <p:sldId id="314" r:id="rId29"/>
    <p:sldId id="315" r:id="rId30"/>
    <p:sldId id="316" r:id="rId31"/>
    <p:sldId id="310" r:id="rId32"/>
    <p:sldId id="311" r:id="rId33"/>
    <p:sldId id="317" r:id="rId34"/>
    <p:sldId id="318" r:id="rId35"/>
    <p:sldId id="320" r:id="rId36"/>
    <p:sldId id="312" r:id="rId37"/>
    <p:sldId id="313" r:id="rId38"/>
    <p:sldId id="319" r:id="rId39"/>
    <p:sldId id="321" r:id="rId40"/>
    <p:sldId id="322" r:id="rId4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p:scale>
          <a:sx n="75" d="100"/>
          <a:sy n="75" d="100"/>
        </p:scale>
        <p:origin x="974" y="216"/>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3/30/2026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3/30/2026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3/30/2026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3/30/2026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3/30/2026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3/30/2026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3/30/2026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3/30/2026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3/30/2026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3/30/2026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3/30/2026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3/30/2026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3/30/2026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3/30/2026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3972" y="3829221"/>
            <a:ext cx="8735325" cy="2000251"/>
          </a:xfrm>
        </p:spPr>
        <p:txBody>
          <a:bodyPr>
            <a:noAutofit/>
          </a:bodyPr>
          <a:lstStyle/>
          <a:p>
            <a:r>
              <a:rPr lang="en-US" sz="6000" b="1" dirty="0">
                <a:solidFill>
                  <a:schemeClr val="accent1">
                    <a:lumMod val="40000"/>
                    <a:lumOff val="60000"/>
                  </a:schemeClr>
                </a:solidFill>
              </a:rPr>
              <a:t>AI-Powered Mental Health Monitoring and recommendation System</a:t>
            </a:r>
          </a:p>
        </p:txBody>
      </p:sp>
      <p:pic>
        <p:nvPicPr>
          <p:cNvPr id="3" name="Picture 2">
            <a:extLst>
              <a:ext uri="{FF2B5EF4-FFF2-40B4-BE49-F238E27FC236}">
                <a16:creationId xmlns:a16="http://schemas.microsoft.com/office/drawing/2014/main" id="{F20FAD47-828D-C958-E388-BE7C6C5277CD}"/>
              </a:ext>
            </a:extLst>
          </p:cNvPr>
          <p:cNvPicPr>
            <a:picLocks noChangeAspect="1"/>
          </p:cNvPicPr>
          <p:nvPr/>
        </p:nvPicPr>
        <p:blipFill>
          <a:blip r:embed="rId2"/>
          <a:stretch>
            <a:fillRect/>
          </a:stretch>
        </p:blipFill>
        <p:spPr>
          <a:xfrm>
            <a:off x="2536" y="6896"/>
            <a:ext cx="2983028" cy="2583070"/>
          </a:xfrm>
          <a:prstGeom prst="rect">
            <a:avLst/>
          </a:prstGeom>
        </p:spPr>
      </p:pic>
      <p:sp>
        <p:nvSpPr>
          <p:cNvPr id="5" name="TextBox 9">
            <a:extLst>
              <a:ext uri="{FF2B5EF4-FFF2-40B4-BE49-F238E27FC236}">
                <a16:creationId xmlns:a16="http://schemas.microsoft.com/office/drawing/2014/main" id="{D6A8A02A-9B11-5DA9-F390-F2E31CEAC68B}"/>
              </a:ext>
            </a:extLst>
          </p:cNvPr>
          <p:cNvSpPr txBox="1"/>
          <p:nvPr/>
        </p:nvSpPr>
        <p:spPr>
          <a:xfrm>
            <a:off x="2985564" y="28235"/>
            <a:ext cx="6136850" cy="200041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b="1" dirty="0">
                <a:latin typeface="Times New Roman" panose="02020603050405020304" pitchFamily="18" charset="0"/>
                <a:cs typeface="Times New Roman" panose="02020603050405020304" pitchFamily="18" charset="0"/>
              </a:rPr>
              <a:t>PUNE DISTRICT EDUCATION ASSOCIATION’S COLLEGE OF ENGINEERING</a:t>
            </a:r>
          </a:p>
          <a:p>
            <a:pPr algn="ctr"/>
            <a:r>
              <a:rPr lang="en-US" sz="1999" dirty="0">
                <a:cs typeface="Times New Roman" panose="02020603050405020304" pitchFamily="18" charset="0"/>
              </a:rPr>
              <a:t>Manjari (BK</a:t>
            </a:r>
            <a:r>
              <a:rPr lang="en-US" sz="1999" dirty="0">
                <a:latin typeface="Times New Roman" panose="02020603050405020304" pitchFamily="18" charset="0"/>
                <a:cs typeface="Times New Roman" panose="02020603050405020304" pitchFamily="18" charset="0"/>
              </a:rPr>
              <a:t>), Pune - 412307 (Maharashtra) India</a:t>
            </a:r>
            <a:br>
              <a:rPr lang="en-US" sz="1999" dirty="0">
                <a:latin typeface="Times New Roman" panose="02020603050405020304" pitchFamily="18" charset="0"/>
                <a:cs typeface="Times New Roman" panose="02020603050405020304" pitchFamily="18" charset="0"/>
              </a:rPr>
            </a:br>
            <a:r>
              <a:rPr lang="en-US" sz="1999" dirty="0">
                <a:latin typeface="Times New Roman" panose="02020603050405020304" pitchFamily="18" charset="0"/>
                <a:cs typeface="Times New Roman" panose="02020603050405020304" pitchFamily="18" charset="0"/>
              </a:rPr>
              <a:t> **NAAC Accredited**</a:t>
            </a:r>
            <a:endParaRPr lang="en-IN" sz="2000" b="1" dirty="0">
              <a:latin typeface="Times New Roman" panose="02020603050405020304" pitchFamily="18" charset="0"/>
              <a:cs typeface="Times New Roman" panose="02020603050405020304" pitchFamily="18" charset="0"/>
            </a:endParaRPr>
          </a:p>
        </p:txBody>
      </p:sp>
      <p:sp>
        <p:nvSpPr>
          <p:cNvPr id="6" name="TextBox 16">
            <a:extLst>
              <a:ext uri="{FF2B5EF4-FFF2-40B4-BE49-F238E27FC236}">
                <a16:creationId xmlns:a16="http://schemas.microsoft.com/office/drawing/2014/main" id="{3CF05706-717C-7D54-70A1-1C93D405FCED}"/>
              </a:ext>
            </a:extLst>
          </p:cNvPr>
          <p:cNvSpPr txBox="1"/>
          <p:nvPr/>
        </p:nvSpPr>
        <p:spPr>
          <a:xfrm>
            <a:off x="3418478" y="2083011"/>
            <a:ext cx="5231876" cy="98488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latin typeface="Times New Roman" panose="02020603050405020304" pitchFamily="18" charset="0"/>
                <a:cs typeface="Times New Roman" panose="02020603050405020304" pitchFamily="18" charset="0"/>
              </a:rPr>
              <a:t>DEPARTMENT OF COMPUTER         </a:t>
            </a:r>
          </a:p>
          <a:p>
            <a:r>
              <a:rPr lang="en-US" sz="2000" b="1" dirty="0">
                <a:latin typeface="Times New Roman" panose="02020603050405020304" pitchFamily="18" charset="0"/>
                <a:cs typeface="Times New Roman" panose="02020603050405020304" pitchFamily="18" charset="0"/>
              </a:rPr>
              <a:t>                            ENGINEERING</a:t>
            </a:r>
            <a:endParaRPr lang="en-IN" sz="2000" b="1" dirty="0">
              <a:latin typeface="Times New Roman" panose="02020603050405020304" pitchFamily="18" charset="0"/>
              <a:cs typeface="Times New Roman" panose="02020603050405020304" pitchFamily="18" charset="0"/>
            </a:endParaRPr>
          </a:p>
          <a:p>
            <a:pPr algn="ctr"/>
            <a:endParaRPr lang="en-IN" dirty="0"/>
          </a:p>
        </p:txBody>
      </p:sp>
      <p:pic>
        <p:nvPicPr>
          <p:cNvPr id="7" name="Picture 6">
            <a:extLst>
              <a:ext uri="{FF2B5EF4-FFF2-40B4-BE49-F238E27FC236}">
                <a16:creationId xmlns:a16="http://schemas.microsoft.com/office/drawing/2014/main" id="{E0EFBA23-D352-EBF7-355B-7255FA2016FA}"/>
              </a:ext>
            </a:extLst>
          </p:cNvPr>
          <p:cNvPicPr>
            <a:picLocks noChangeAspect="1"/>
          </p:cNvPicPr>
          <p:nvPr/>
        </p:nvPicPr>
        <p:blipFill>
          <a:blip r:embed="rId3"/>
          <a:stretch>
            <a:fillRect/>
          </a:stretch>
        </p:blipFill>
        <p:spPr>
          <a:xfrm>
            <a:off x="9122414" y="70131"/>
            <a:ext cx="2983028" cy="2797557"/>
          </a:xfrm>
          <a:prstGeom prst="rect">
            <a:avLst/>
          </a:prstGeom>
        </p:spPr>
      </p:pic>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C4403-DFBD-7748-F9B2-6C1A05081B3F}"/>
              </a:ext>
            </a:extLst>
          </p:cNvPr>
          <p:cNvSpPr>
            <a:spLocks noGrp="1"/>
          </p:cNvSpPr>
          <p:nvPr>
            <p:ph type="title"/>
          </p:nvPr>
        </p:nvSpPr>
        <p:spPr/>
        <p:txBody>
          <a:bodyPr/>
          <a:lstStyle/>
          <a:p>
            <a:r>
              <a:rPr lang="en-US" b="1" dirty="0">
                <a:solidFill>
                  <a:schemeClr val="accent1">
                    <a:lumMod val="40000"/>
                    <a:lumOff val="60000"/>
                  </a:schemeClr>
                </a:solidFill>
              </a:rPr>
              <a:t>Team Members:</a:t>
            </a:r>
            <a:endParaRPr lang="en-IN" b="1" dirty="0">
              <a:solidFill>
                <a:schemeClr val="accent1">
                  <a:lumMod val="40000"/>
                  <a:lumOff val="60000"/>
                </a:schemeClr>
              </a:solidFill>
            </a:endParaRPr>
          </a:p>
        </p:txBody>
      </p:sp>
      <p:sp>
        <p:nvSpPr>
          <p:cNvPr id="3" name="Content Placeholder 2">
            <a:extLst>
              <a:ext uri="{FF2B5EF4-FFF2-40B4-BE49-F238E27FC236}">
                <a16:creationId xmlns:a16="http://schemas.microsoft.com/office/drawing/2014/main" id="{DE28F1DA-F783-1C82-3375-2518DD6999C3}"/>
              </a:ext>
            </a:extLst>
          </p:cNvPr>
          <p:cNvSpPr>
            <a:spLocks noGrp="1"/>
          </p:cNvSpPr>
          <p:nvPr>
            <p:ph idx="1"/>
          </p:nvPr>
        </p:nvSpPr>
        <p:spPr>
          <a:xfrm>
            <a:off x="1194847" y="1556792"/>
            <a:ext cx="10360501" cy="4462272"/>
          </a:xfrm>
        </p:spPr>
        <p:txBody>
          <a:bodyPr/>
          <a:lstStyle/>
          <a:p>
            <a:r>
              <a:rPr lang="en-US" dirty="0"/>
              <a:t>Shubham Kamble(BA-55)</a:t>
            </a:r>
          </a:p>
          <a:p>
            <a:r>
              <a:rPr lang="en-US" dirty="0"/>
              <a:t>Shlok Ekhande(BA-29)</a:t>
            </a:r>
          </a:p>
          <a:p>
            <a:r>
              <a:rPr lang="en-US" dirty="0"/>
              <a:t>Sagar Ingole(BA-41)</a:t>
            </a:r>
          </a:p>
          <a:p>
            <a:r>
              <a:rPr lang="en-US" dirty="0"/>
              <a:t>Roshan </a:t>
            </a:r>
            <a:r>
              <a:rPr lang="en-US" dirty="0" err="1"/>
              <a:t>Jayabhaye</a:t>
            </a:r>
            <a:r>
              <a:rPr lang="en-US" dirty="0"/>
              <a:t>(BA-52)</a:t>
            </a:r>
          </a:p>
          <a:p>
            <a:endParaRPr lang="en-US" dirty="0"/>
          </a:p>
          <a:p>
            <a:pPr marL="0" indent="0">
              <a:buNone/>
            </a:pPr>
            <a:r>
              <a:rPr lang="en-US" b="1" dirty="0">
                <a:solidFill>
                  <a:schemeClr val="accent1">
                    <a:lumMod val="40000"/>
                    <a:lumOff val="60000"/>
                  </a:schemeClr>
                </a:solidFill>
              </a:rPr>
              <a:t>Project Guide: </a:t>
            </a:r>
            <a:r>
              <a:rPr lang="en-US" b="1" dirty="0" err="1"/>
              <a:t>Prof.A.A.Bamanikar</a:t>
            </a:r>
            <a:endParaRPr lang="en-IN" b="1" dirty="0"/>
          </a:p>
        </p:txBody>
      </p:sp>
    </p:spTree>
    <p:extLst>
      <p:ext uri="{BB962C8B-B14F-4D97-AF65-F5344CB8AC3E}">
        <p14:creationId xmlns:p14="http://schemas.microsoft.com/office/powerpoint/2010/main" val="893179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b="1" dirty="0">
                <a:solidFill>
                  <a:schemeClr val="accent1">
                    <a:lumMod val="40000"/>
                    <a:lumOff val="60000"/>
                  </a:schemeClr>
                </a:solidFill>
              </a:rPr>
              <a:t>Introduction:</a:t>
            </a:r>
          </a:p>
        </p:txBody>
      </p:sp>
      <p:sp>
        <p:nvSpPr>
          <p:cNvPr id="14" name="Content Placeholder 13"/>
          <p:cNvSpPr>
            <a:spLocks noGrp="1"/>
          </p:cNvSpPr>
          <p:nvPr>
            <p:ph idx="1"/>
          </p:nvPr>
        </p:nvSpPr>
        <p:spPr>
          <a:xfrm>
            <a:off x="1248194" y="2313370"/>
            <a:ext cx="10360501" cy="2231259"/>
          </a:xfrm>
        </p:spPr>
        <p:txBody>
          <a:bodyPr/>
          <a:lstStyle/>
          <a:p>
            <a:pPr marL="0" indent="0" algn="just">
              <a:buNone/>
            </a:pPr>
            <a:r>
              <a:rPr lang="en-US" dirty="0"/>
              <a:t>Mental health is a vital part of overall well-being, but early detection and support are often limited. This project aims to use AI to monitor emotions and provide personalized recommendations to help improve mental well-being.</a:t>
            </a: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64AE1-BF36-11BF-8B69-AFB88EAA9D97}"/>
              </a:ext>
            </a:extLst>
          </p:cNvPr>
          <p:cNvSpPr>
            <a:spLocks noGrp="1"/>
          </p:cNvSpPr>
          <p:nvPr>
            <p:ph type="title"/>
          </p:nvPr>
        </p:nvSpPr>
        <p:spPr/>
        <p:txBody>
          <a:bodyPr/>
          <a:lstStyle/>
          <a:p>
            <a:r>
              <a:rPr lang="en-IN" b="1" dirty="0">
                <a:solidFill>
                  <a:schemeClr val="accent1">
                    <a:lumMod val="40000"/>
                    <a:lumOff val="60000"/>
                  </a:schemeClr>
                </a:solidFill>
              </a:rPr>
              <a:t>Problem Statement:</a:t>
            </a:r>
          </a:p>
        </p:txBody>
      </p:sp>
      <p:sp>
        <p:nvSpPr>
          <p:cNvPr id="3" name="Content Placeholder 2">
            <a:extLst>
              <a:ext uri="{FF2B5EF4-FFF2-40B4-BE49-F238E27FC236}">
                <a16:creationId xmlns:a16="http://schemas.microsoft.com/office/drawing/2014/main" id="{6E420F75-C1A3-497D-EEA7-513ACFC19E22}"/>
              </a:ext>
            </a:extLst>
          </p:cNvPr>
          <p:cNvSpPr>
            <a:spLocks noGrp="1"/>
          </p:cNvSpPr>
          <p:nvPr>
            <p:ph idx="1"/>
          </p:nvPr>
        </p:nvSpPr>
        <p:spPr>
          <a:xfrm>
            <a:off x="1195861" y="2276872"/>
            <a:ext cx="10360501" cy="4462272"/>
          </a:xfrm>
        </p:spPr>
        <p:txBody>
          <a:bodyPr/>
          <a:lstStyle/>
          <a:p>
            <a:pPr marL="0" indent="0" algn="just">
              <a:buNone/>
            </a:pPr>
            <a:r>
              <a:rPr lang="en-US" dirty="0"/>
              <a:t>Mental health issues often go unnoticed due to lack of early detection and support. People may not realize changes in their emotional state until it affects their daily life. There is a need for a system that can monitor mental health, detect emotions in real time, and provide recommendations to maintain well-being.</a:t>
            </a:r>
            <a:endParaRPr lang="en-IN" dirty="0"/>
          </a:p>
        </p:txBody>
      </p:sp>
    </p:spTree>
    <p:extLst>
      <p:ext uri="{BB962C8B-B14F-4D97-AF65-F5344CB8AC3E}">
        <p14:creationId xmlns:p14="http://schemas.microsoft.com/office/powerpoint/2010/main" val="2946146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608A6-092A-CF0B-9B26-133C7623CC3F}"/>
              </a:ext>
            </a:extLst>
          </p:cNvPr>
          <p:cNvSpPr>
            <a:spLocks noGrp="1"/>
          </p:cNvSpPr>
          <p:nvPr>
            <p:ph type="title"/>
          </p:nvPr>
        </p:nvSpPr>
        <p:spPr>
          <a:xfrm>
            <a:off x="658214" y="-171400"/>
            <a:ext cx="10360501" cy="1223963"/>
          </a:xfrm>
        </p:spPr>
        <p:txBody>
          <a:bodyPr/>
          <a:lstStyle/>
          <a:p>
            <a:r>
              <a:rPr lang="en-IN" b="1" dirty="0">
                <a:solidFill>
                  <a:schemeClr val="accent1">
                    <a:lumMod val="40000"/>
                    <a:lumOff val="60000"/>
                  </a:schemeClr>
                </a:solidFill>
              </a:rPr>
              <a:t>Objectives:</a:t>
            </a:r>
          </a:p>
        </p:txBody>
      </p:sp>
      <p:sp>
        <p:nvSpPr>
          <p:cNvPr id="4" name="Rectangle 1">
            <a:extLst>
              <a:ext uri="{FF2B5EF4-FFF2-40B4-BE49-F238E27FC236}">
                <a16:creationId xmlns:a16="http://schemas.microsoft.com/office/drawing/2014/main" id="{3E60EFD5-9C59-2455-FFC8-D4D5E93D384D}"/>
              </a:ext>
            </a:extLst>
          </p:cNvPr>
          <p:cNvSpPr>
            <a:spLocks noGrp="1" noChangeArrowheads="1"/>
          </p:cNvSpPr>
          <p:nvPr>
            <p:ph idx="1"/>
          </p:nvPr>
        </p:nvSpPr>
        <p:spPr bwMode="auto">
          <a:xfrm>
            <a:off x="765820" y="1686696"/>
            <a:ext cx="11325536" cy="5712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To collect and analyze the user’s daily text input using NLP and ML techniques to accurately detect and classify emotions.</a:t>
            </a:r>
            <a:endParaRPr lang="en-US" sz="2400" dirty="0"/>
          </a:p>
          <a:p>
            <a:r>
              <a:rPr lang="en-US" sz="2400" b="1" dirty="0"/>
              <a:t>To provide personalized recommendations and guidance based on the identified emotional state to support users’ mental well-being.</a:t>
            </a:r>
            <a:endParaRPr lang="en-US" sz="2400" dirty="0"/>
          </a:p>
          <a:p>
            <a:r>
              <a:rPr lang="en-US" sz="2400" b="1" dirty="0"/>
              <a:t>To securely store emotional data for tracking and future analysis, ensuring user privacy and data integrity.</a:t>
            </a:r>
            <a:endParaRPr lang="en-US" sz="2400" dirty="0"/>
          </a:p>
          <a:p>
            <a:r>
              <a:rPr lang="en-US" sz="2400" b="1" dirty="0"/>
              <a:t>To generate meaningful emotion trend charts that help users understand their emotional patterns over time</a:t>
            </a:r>
            <a:r>
              <a:rPr lang="en-US" b="1" dirty="0"/>
              <a:t>.</a:t>
            </a:r>
            <a:endParaRPr lang="en-US" dirty="0"/>
          </a:p>
          <a:p>
            <a:pPr marL="514350" lvl="0" indent="-514350" algn="just" defTabSz="914400" eaLnBrk="0" fontAlgn="base" hangingPunct="0">
              <a:lnSpc>
                <a:spcPct val="100000"/>
              </a:lnSpc>
              <a:spcBef>
                <a:spcPct val="0"/>
              </a:spcBef>
              <a:spcAft>
                <a:spcPct val="0"/>
              </a:spcAft>
              <a:buClrTx/>
              <a:buSzTx/>
              <a:buFont typeface="+mj-lt"/>
              <a:buAutoNum type="arabicPeriod"/>
            </a:pPr>
            <a:endParaRPr lang="en-US" dirty="0"/>
          </a:p>
          <a:p>
            <a:pPr marL="514350" lvl="0" indent="-514350" algn="just" defTabSz="914400" eaLnBrk="0" fontAlgn="base" hangingPunct="0">
              <a:lnSpc>
                <a:spcPct val="150000"/>
              </a:lnSpc>
              <a:spcBef>
                <a:spcPct val="0"/>
              </a:spcBef>
              <a:spcAft>
                <a:spcPct val="0"/>
              </a:spcAft>
              <a:buClrTx/>
              <a:buSzTx/>
              <a:buFont typeface="+mj-lt"/>
              <a:buAutoNum type="arabicPeriod"/>
            </a:pPr>
            <a:endParaRPr lang="en-US" dirty="0"/>
          </a:p>
          <a:p>
            <a:pPr marL="514350" lvl="0" indent="-514350" defTabSz="914400" eaLnBrk="0" fontAlgn="base" hangingPunct="0">
              <a:lnSpc>
                <a:spcPct val="150000"/>
              </a:lnSpc>
              <a:spcBef>
                <a:spcPct val="0"/>
              </a:spcBef>
              <a:spcAft>
                <a:spcPct val="0"/>
              </a:spcAft>
              <a:buClrTx/>
              <a:buSzTx/>
              <a:buFont typeface="+mj-lt"/>
              <a:buAutoNum type="arabicPeriod"/>
            </a:pPr>
            <a:endParaRPr lang="en-US" dirty="0"/>
          </a:p>
          <a:p>
            <a:pPr marL="514350" lvl="0" indent="-514350" defTabSz="914400" eaLnBrk="0" fontAlgn="base" hangingPunct="0">
              <a:lnSpc>
                <a:spcPct val="150000"/>
              </a:lnSpc>
              <a:spcBef>
                <a:spcPct val="0"/>
              </a:spcBef>
              <a:spcAft>
                <a:spcPct val="0"/>
              </a:spcAft>
              <a:buClrTx/>
              <a:buSzTx/>
              <a:buFont typeface="+mj-lt"/>
              <a:buAutoNum type="arabicPeriod"/>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2095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B6C93-0267-D027-4419-AE40A1B2E204}"/>
              </a:ext>
            </a:extLst>
          </p:cNvPr>
          <p:cNvSpPr>
            <a:spLocks noGrp="1"/>
          </p:cNvSpPr>
          <p:nvPr>
            <p:ph type="title"/>
          </p:nvPr>
        </p:nvSpPr>
        <p:spPr>
          <a:xfrm>
            <a:off x="621804" y="297727"/>
            <a:ext cx="10360501" cy="1223963"/>
          </a:xfrm>
        </p:spPr>
        <p:txBody>
          <a:bodyPr/>
          <a:lstStyle/>
          <a:p>
            <a:r>
              <a:rPr lang="en-IN" b="1" dirty="0">
                <a:solidFill>
                  <a:schemeClr val="accent1">
                    <a:lumMod val="40000"/>
                    <a:lumOff val="60000"/>
                  </a:schemeClr>
                </a:solidFill>
              </a:rPr>
              <a:t>SDLC (Software Development Life Cycle)</a:t>
            </a:r>
          </a:p>
        </p:txBody>
      </p:sp>
      <p:sp>
        <p:nvSpPr>
          <p:cNvPr id="3" name="Content Placeholder 2">
            <a:extLst>
              <a:ext uri="{FF2B5EF4-FFF2-40B4-BE49-F238E27FC236}">
                <a16:creationId xmlns:a16="http://schemas.microsoft.com/office/drawing/2014/main" id="{08664F21-591E-5913-9D18-FD8B182B635D}"/>
              </a:ext>
            </a:extLst>
          </p:cNvPr>
          <p:cNvSpPr>
            <a:spLocks noGrp="1"/>
          </p:cNvSpPr>
          <p:nvPr>
            <p:ph idx="1"/>
          </p:nvPr>
        </p:nvSpPr>
        <p:spPr>
          <a:xfrm>
            <a:off x="5950396" y="1701797"/>
            <a:ext cx="5628988" cy="4462272"/>
          </a:xfrm>
        </p:spPr>
        <p:txBody>
          <a:bodyPr>
            <a:normAutofit/>
          </a:bodyPr>
          <a:lstStyle/>
          <a:p>
            <a:pPr marL="0" indent="0" algn="just">
              <a:buNone/>
            </a:pPr>
            <a:r>
              <a:rPr lang="en-US" dirty="0"/>
              <a:t>We are following the Agile model by working in small sprints, each focusing on tasks like model development and backend features. After every sprint, we test the current progress and make improvements based on feedback. This iterative approach helps us continuously refine the emotion detection system as the project is still in development.</a:t>
            </a:r>
          </a:p>
          <a:p>
            <a:pPr marL="0" indent="0">
              <a:buNone/>
            </a:pPr>
            <a:endParaRPr lang="en-IN" dirty="0"/>
          </a:p>
        </p:txBody>
      </p:sp>
      <p:pic>
        <p:nvPicPr>
          <p:cNvPr id="6" name="Picture 5">
            <a:extLst>
              <a:ext uri="{FF2B5EF4-FFF2-40B4-BE49-F238E27FC236}">
                <a16:creationId xmlns:a16="http://schemas.microsoft.com/office/drawing/2014/main" id="{EEED9F98-2D35-E638-27A6-EB437A3DF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576" y="1521690"/>
            <a:ext cx="4942284" cy="4940275"/>
          </a:xfrm>
          <a:prstGeom prst="rect">
            <a:avLst/>
          </a:prstGeom>
        </p:spPr>
      </p:pic>
    </p:spTree>
    <p:extLst>
      <p:ext uri="{BB962C8B-B14F-4D97-AF65-F5344CB8AC3E}">
        <p14:creationId xmlns:p14="http://schemas.microsoft.com/office/powerpoint/2010/main" val="1767831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2E0C4-C028-228C-2058-FB3A42E826F4}"/>
              </a:ext>
            </a:extLst>
          </p:cNvPr>
          <p:cNvSpPr>
            <a:spLocks noGrp="1"/>
          </p:cNvSpPr>
          <p:nvPr>
            <p:ph type="title"/>
          </p:nvPr>
        </p:nvSpPr>
        <p:spPr>
          <a:xfrm>
            <a:off x="914161" y="332829"/>
            <a:ext cx="10360501" cy="1223963"/>
          </a:xfrm>
        </p:spPr>
        <p:txBody>
          <a:bodyPr/>
          <a:lstStyle/>
          <a:p>
            <a:r>
              <a:rPr lang="en-IN" b="1" dirty="0">
                <a:solidFill>
                  <a:schemeClr val="accent1">
                    <a:lumMod val="40000"/>
                    <a:lumOff val="60000"/>
                  </a:schemeClr>
                </a:solidFill>
              </a:rPr>
              <a:t>Software Requirements Specification (SRS)</a:t>
            </a:r>
          </a:p>
        </p:txBody>
      </p:sp>
      <p:sp>
        <p:nvSpPr>
          <p:cNvPr id="3" name="Content Placeholder 2">
            <a:extLst>
              <a:ext uri="{FF2B5EF4-FFF2-40B4-BE49-F238E27FC236}">
                <a16:creationId xmlns:a16="http://schemas.microsoft.com/office/drawing/2014/main" id="{9CD3CCD1-1A28-5650-3868-84E093290189}"/>
              </a:ext>
            </a:extLst>
          </p:cNvPr>
          <p:cNvSpPr>
            <a:spLocks noGrp="1"/>
          </p:cNvSpPr>
          <p:nvPr>
            <p:ph idx="1"/>
          </p:nvPr>
        </p:nvSpPr>
        <p:spPr>
          <a:xfrm>
            <a:off x="914161" y="1772816"/>
            <a:ext cx="9433048" cy="4248472"/>
          </a:xfrm>
        </p:spPr>
        <p:txBody>
          <a:bodyPr>
            <a:normAutofit fontScale="25000" lnSpcReduction="20000"/>
          </a:bodyPr>
          <a:lstStyle/>
          <a:p>
            <a:pPr>
              <a:buFont typeface="Wingdings" panose="05000000000000000000" pitchFamily="2" charset="2"/>
              <a:buChar char="§"/>
            </a:pPr>
            <a:endParaRPr lang="en-IN" sz="3600" dirty="0">
              <a:solidFill>
                <a:schemeClr val="accent2"/>
              </a:solidFill>
            </a:endParaRPr>
          </a:p>
          <a:p>
            <a:pPr>
              <a:buFont typeface="Wingdings" panose="05000000000000000000" pitchFamily="2" charset="2"/>
              <a:buChar char="§"/>
            </a:pPr>
            <a:r>
              <a:rPr lang="en-US" sz="12800" b="1" dirty="0">
                <a:solidFill>
                  <a:schemeClr val="accent2">
                    <a:lumMod val="75000"/>
                  </a:schemeClr>
                </a:solidFill>
              </a:rPr>
              <a:t>Scope:</a:t>
            </a:r>
          </a:p>
          <a:p>
            <a:pPr>
              <a:buFont typeface="Wingdings" panose="05000000000000000000" pitchFamily="2" charset="2"/>
              <a:buChar char="§"/>
            </a:pPr>
            <a:r>
              <a:rPr lang="en-US" sz="11200" dirty="0"/>
              <a:t>To analyze user-entered text using NLP and classify emotions.</a:t>
            </a:r>
          </a:p>
          <a:p>
            <a:pPr>
              <a:buFont typeface="Wingdings" panose="05000000000000000000" pitchFamily="2" charset="2"/>
              <a:buChar char="§"/>
            </a:pPr>
            <a:r>
              <a:rPr lang="en-US" sz="11200" dirty="0"/>
              <a:t>To provide emotion-based personalized recommendations.</a:t>
            </a:r>
          </a:p>
          <a:p>
            <a:pPr>
              <a:buFont typeface="Wingdings" panose="05000000000000000000" pitchFamily="2" charset="2"/>
              <a:buChar char="§"/>
            </a:pPr>
            <a:r>
              <a:rPr lang="en-US" sz="11200" dirty="0"/>
              <a:t>To store user emotion data for future reference</a:t>
            </a:r>
          </a:p>
          <a:p>
            <a:pPr>
              <a:buFont typeface="Wingdings" panose="05000000000000000000" pitchFamily="2" charset="2"/>
              <a:buChar char="§"/>
            </a:pPr>
            <a:r>
              <a:rPr lang="en-US" sz="11200" dirty="0"/>
              <a:t>To generate monthly emotion charts for overall emotional analysis.</a:t>
            </a:r>
          </a:p>
          <a:p>
            <a:pPr>
              <a:buFont typeface="Wingdings" panose="05000000000000000000" pitchFamily="2" charset="2"/>
              <a:buChar char="§"/>
            </a:pPr>
            <a:r>
              <a:rPr lang="en-US" sz="11200" dirty="0"/>
              <a:t>To offer a simple and user-friendly interface.</a:t>
            </a:r>
          </a:p>
          <a:p>
            <a:pPr>
              <a:buFont typeface="Wingdings" panose="05000000000000000000" pitchFamily="2" charset="2"/>
              <a:buChar char="§"/>
            </a:pPr>
            <a:r>
              <a:rPr lang="en-US" sz="11200" dirty="0"/>
              <a:t>The system focuses only on text-based emotion detection, not voice or medical diagnosis.</a:t>
            </a:r>
          </a:p>
          <a:p>
            <a:pPr>
              <a:buFont typeface="Wingdings" panose="05000000000000000000" pitchFamily="2" charset="2"/>
              <a:buChar char="§"/>
            </a:pPr>
            <a:endParaRPr lang="en-US" b="1" dirty="0">
              <a:solidFill>
                <a:schemeClr val="accent2"/>
              </a:solidFill>
            </a:endParaRPr>
          </a:p>
          <a:p>
            <a:pPr>
              <a:buFont typeface="Wingdings" panose="05000000000000000000" pitchFamily="2" charset="2"/>
              <a:buChar char="§"/>
            </a:pPr>
            <a:endParaRPr lang="en-IN" dirty="0"/>
          </a:p>
        </p:txBody>
      </p:sp>
    </p:spTree>
    <p:extLst>
      <p:ext uri="{BB962C8B-B14F-4D97-AF65-F5344CB8AC3E}">
        <p14:creationId xmlns:p14="http://schemas.microsoft.com/office/powerpoint/2010/main" val="53572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231FAD-84FD-E12F-25AA-E1E6483DD6E5}"/>
              </a:ext>
            </a:extLst>
          </p:cNvPr>
          <p:cNvSpPr>
            <a:spLocks noGrp="1"/>
          </p:cNvSpPr>
          <p:nvPr>
            <p:ph idx="1"/>
          </p:nvPr>
        </p:nvSpPr>
        <p:spPr>
          <a:xfrm>
            <a:off x="1125860" y="980728"/>
            <a:ext cx="10360501" cy="5040560"/>
          </a:xfrm>
        </p:spPr>
        <p:txBody>
          <a:bodyPr>
            <a:normAutofit fontScale="85000" lnSpcReduction="20000"/>
          </a:bodyPr>
          <a:lstStyle/>
          <a:p>
            <a:pPr marL="0" indent="0">
              <a:buNone/>
            </a:pPr>
            <a:r>
              <a:rPr lang="en-IN" sz="3300" b="1" dirty="0">
                <a:solidFill>
                  <a:schemeClr val="accent2">
                    <a:lumMod val="75000"/>
                  </a:schemeClr>
                </a:solidFill>
              </a:rPr>
              <a:t>Functional Requirements</a:t>
            </a:r>
          </a:p>
          <a:p>
            <a:pPr algn="just">
              <a:lnSpc>
                <a:spcPct val="170000"/>
              </a:lnSpc>
              <a:buFont typeface="Wingdings" panose="05000000000000000000" pitchFamily="2" charset="2"/>
              <a:buChar char="v"/>
            </a:pPr>
            <a:r>
              <a:rPr lang="en-US" dirty="0"/>
              <a:t> Accepts user text input for emotional analysis.</a:t>
            </a:r>
          </a:p>
          <a:p>
            <a:pPr lvl="0" algn="just" defTabSz="914400" eaLnBrk="0" fontAlgn="base" hangingPunct="0">
              <a:lnSpc>
                <a:spcPct val="170000"/>
              </a:lnSpc>
              <a:spcBef>
                <a:spcPct val="0"/>
              </a:spcBef>
              <a:spcAft>
                <a:spcPct val="0"/>
              </a:spcAft>
              <a:buClrTx/>
              <a:buSzTx/>
              <a:buFont typeface="Wingdings" panose="05000000000000000000" pitchFamily="2" charset="2"/>
              <a:buChar char="v"/>
            </a:pPr>
            <a:r>
              <a:rPr lang="en-US" altLang="en-US" dirty="0">
                <a:latin typeface="Arial" panose="020B0604020202020204" pitchFamily="34" charset="0"/>
              </a:rPr>
              <a:t> Preprocesses the text using NLP techniques.</a:t>
            </a:r>
          </a:p>
          <a:p>
            <a:pPr lvl="0" algn="just" defTabSz="914400" eaLnBrk="0" fontAlgn="base" hangingPunct="0">
              <a:lnSpc>
                <a:spcPct val="170000"/>
              </a:lnSpc>
              <a:spcBef>
                <a:spcPct val="0"/>
              </a:spcBef>
              <a:spcAft>
                <a:spcPct val="0"/>
              </a:spcAft>
              <a:buClrTx/>
              <a:buSzTx/>
              <a:buFont typeface="Wingdings" panose="05000000000000000000" pitchFamily="2" charset="2"/>
              <a:buChar char="v"/>
            </a:pPr>
            <a:r>
              <a:rPr lang="en-US" altLang="en-US" dirty="0">
                <a:latin typeface="Arial" panose="020B0604020202020204" pitchFamily="34" charset="0"/>
              </a:rPr>
              <a:t> Detects and classifies the user’s emotion.</a:t>
            </a:r>
          </a:p>
          <a:p>
            <a:pPr lvl="0" algn="just" defTabSz="914400" eaLnBrk="0" fontAlgn="base" hangingPunct="0">
              <a:lnSpc>
                <a:spcPct val="170000"/>
              </a:lnSpc>
              <a:spcBef>
                <a:spcPct val="0"/>
              </a:spcBef>
              <a:spcAft>
                <a:spcPct val="0"/>
              </a:spcAft>
              <a:buClrTx/>
              <a:buSzTx/>
              <a:buFont typeface="Wingdings" panose="05000000000000000000" pitchFamily="2" charset="2"/>
              <a:buChar char="v"/>
            </a:pPr>
            <a:r>
              <a:rPr lang="en-US" altLang="en-US" dirty="0">
                <a:latin typeface="Arial" panose="020B0604020202020204" pitchFamily="34" charset="0"/>
              </a:rPr>
              <a:t> Generates recommendations based on emotion.</a:t>
            </a:r>
          </a:p>
          <a:p>
            <a:pPr lvl="0" algn="just" defTabSz="914400" eaLnBrk="0" fontAlgn="base" hangingPunct="0">
              <a:lnSpc>
                <a:spcPct val="170000"/>
              </a:lnSpc>
              <a:spcBef>
                <a:spcPct val="0"/>
              </a:spcBef>
              <a:spcAft>
                <a:spcPct val="0"/>
              </a:spcAft>
              <a:buClrTx/>
              <a:buSzTx/>
              <a:buFont typeface="Wingdings" panose="05000000000000000000" pitchFamily="2" charset="2"/>
              <a:buChar char="v"/>
            </a:pPr>
            <a:r>
              <a:rPr lang="en-US" altLang="en-US" dirty="0">
                <a:latin typeface="Arial" panose="020B0604020202020204" pitchFamily="34" charset="0"/>
              </a:rPr>
              <a:t> Stores emotion results for monthly analysis.</a:t>
            </a:r>
          </a:p>
          <a:p>
            <a:pPr lvl="0" algn="just" defTabSz="914400" eaLnBrk="0" fontAlgn="base" hangingPunct="0">
              <a:lnSpc>
                <a:spcPct val="170000"/>
              </a:lnSpc>
              <a:spcBef>
                <a:spcPct val="0"/>
              </a:spcBef>
              <a:spcAft>
                <a:spcPct val="0"/>
              </a:spcAft>
              <a:buClrTx/>
              <a:buSzTx/>
              <a:buFont typeface="Wingdings" panose="05000000000000000000" pitchFamily="2" charset="2"/>
              <a:buChar char="v"/>
            </a:pPr>
            <a:r>
              <a:rPr lang="en-US" altLang="en-US" dirty="0">
                <a:latin typeface="Arial" panose="020B0604020202020204" pitchFamily="34" charset="0"/>
              </a:rPr>
              <a:t> Creates emotion charts for users.</a:t>
            </a:r>
          </a:p>
          <a:p>
            <a:pPr lvl="0" algn="just" defTabSz="914400" eaLnBrk="0" fontAlgn="base" hangingPunct="0">
              <a:lnSpc>
                <a:spcPct val="170000"/>
              </a:lnSpc>
              <a:spcBef>
                <a:spcPct val="0"/>
              </a:spcBef>
              <a:spcAft>
                <a:spcPct val="0"/>
              </a:spcAft>
              <a:buClrTx/>
              <a:buSzTx/>
              <a:buFont typeface="Wingdings" panose="05000000000000000000" pitchFamily="2" charset="2"/>
              <a:buChar char="v"/>
            </a:pPr>
            <a:r>
              <a:rPr lang="en-US" altLang="en-US" dirty="0">
                <a:latin typeface="Arial" panose="020B0604020202020204" pitchFamily="34" charset="0"/>
              </a:rPr>
              <a:t> Displays all outputs through a simple, interactive UI.</a:t>
            </a:r>
          </a:p>
          <a:p>
            <a:pPr lvl="0" algn="just" defTabSz="914400" eaLnBrk="0" fontAlgn="base" hangingPunct="0">
              <a:lnSpc>
                <a:spcPct val="170000"/>
              </a:lnSpc>
              <a:spcBef>
                <a:spcPct val="0"/>
              </a:spcBef>
              <a:spcAft>
                <a:spcPct val="0"/>
              </a:spcAft>
              <a:buClrTx/>
              <a:buSzTx/>
              <a:buFont typeface="Wingdings" panose="05000000000000000000" pitchFamily="2" charset="2"/>
              <a:buChar char="v"/>
            </a:pPr>
            <a:r>
              <a:rPr lang="en-US" altLang="en-US" dirty="0">
                <a:latin typeface="Arial" panose="020B0604020202020204" pitchFamily="34" charset="0"/>
              </a:rPr>
              <a:t> Handles empty or invalid inputs gracefully</a:t>
            </a:r>
            <a:endParaRPr lang="en-US" dirty="0"/>
          </a:p>
          <a:p>
            <a:pPr>
              <a:buFont typeface="Wingdings" panose="05000000000000000000" pitchFamily="2" charset="2"/>
              <a:buChar char="v"/>
            </a:pPr>
            <a:endParaRPr lang="en-IN" dirty="0"/>
          </a:p>
        </p:txBody>
      </p:sp>
    </p:spTree>
    <p:extLst>
      <p:ext uri="{BB962C8B-B14F-4D97-AF65-F5344CB8AC3E}">
        <p14:creationId xmlns:p14="http://schemas.microsoft.com/office/powerpoint/2010/main" val="380114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2CEC8-07FA-0A5E-80D6-BD5AEEEB895E}"/>
              </a:ext>
            </a:extLst>
          </p:cNvPr>
          <p:cNvSpPr>
            <a:spLocks noGrp="1"/>
          </p:cNvSpPr>
          <p:nvPr>
            <p:ph type="title"/>
          </p:nvPr>
        </p:nvSpPr>
        <p:spPr/>
        <p:txBody>
          <a:bodyPr>
            <a:normAutofit/>
          </a:bodyPr>
          <a:lstStyle/>
          <a:p>
            <a:r>
              <a:rPr lang="en-IN" sz="2800" b="1" dirty="0">
                <a:solidFill>
                  <a:schemeClr val="accent2">
                    <a:lumMod val="75000"/>
                  </a:schemeClr>
                </a:solidFill>
              </a:rPr>
              <a:t>Non Functional Requirement:</a:t>
            </a:r>
          </a:p>
        </p:txBody>
      </p:sp>
      <p:sp>
        <p:nvSpPr>
          <p:cNvPr id="4" name="Rectangle 1">
            <a:extLst>
              <a:ext uri="{FF2B5EF4-FFF2-40B4-BE49-F238E27FC236}">
                <a16:creationId xmlns:a16="http://schemas.microsoft.com/office/drawing/2014/main" id="{CA8CF0F3-2BC5-22E1-E903-81BA372A208B}"/>
              </a:ext>
            </a:extLst>
          </p:cNvPr>
          <p:cNvSpPr>
            <a:spLocks noGrp="1" noChangeArrowheads="1"/>
          </p:cNvSpPr>
          <p:nvPr>
            <p:ph idx="1"/>
          </p:nvPr>
        </p:nvSpPr>
        <p:spPr bwMode="auto">
          <a:xfrm>
            <a:off x="1215131" y="1628800"/>
            <a:ext cx="7683841"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System responds quickly to input.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Interface is simple and user-friendly.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Application works smoothly without lag.</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User text data remains private.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Emotion detection gives good accuracy.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System runs reliably during usage.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Easy to modify and maintain.</a:t>
            </a:r>
          </a:p>
        </p:txBody>
      </p:sp>
    </p:spTree>
    <p:extLst>
      <p:ext uri="{BB962C8B-B14F-4D97-AF65-F5344CB8AC3E}">
        <p14:creationId xmlns:p14="http://schemas.microsoft.com/office/powerpoint/2010/main" val="1173133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4C559-4692-2EAC-F925-0F9CCDBBE41A}"/>
              </a:ext>
            </a:extLst>
          </p:cNvPr>
          <p:cNvSpPr>
            <a:spLocks noGrp="1"/>
          </p:cNvSpPr>
          <p:nvPr>
            <p:ph type="title"/>
          </p:nvPr>
        </p:nvSpPr>
        <p:spPr>
          <a:xfrm>
            <a:off x="914161" y="291434"/>
            <a:ext cx="10360501" cy="1223963"/>
          </a:xfrm>
        </p:spPr>
        <p:txBody>
          <a:bodyPr/>
          <a:lstStyle/>
          <a:p>
            <a:r>
              <a:rPr lang="en-IN" b="1" dirty="0">
                <a:solidFill>
                  <a:schemeClr val="accent1">
                    <a:lumMod val="40000"/>
                    <a:lumOff val="60000"/>
                  </a:schemeClr>
                </a:solidFill>
              </a:rPr>
              <a:t>System Requirements:</a:t>
            </a:r>
          </a:p>
        </p:txBody>
      </p:sp>
      <p:sp>
        <p:nvSpPr>
          <p:cNvPr id="3" name="Content Placeholder 2">
            <a:extLst>
              <a:ext uri="{FF2B5EF4-FFF2-40B4-BE49-F238E27FC236}">
                <a16:creationId xmlns:a16="http://schemas.microsoft.com/office/drawing/2014/main" id="{C00FE357-5E71-985E-EAB2-4CEAF0090DE0}"/>
              </a:ext>
            </a:extLst>
          </p:cNvPr>
          <p:cNvSpPr>
            <a:spLocks noGrp="1"/>
          </p:cNvSpPr>
          <p:nvPr>
            <p:ph idx="1"/>
          </p:nvPr>
        </p:nvSpPr>
        <p:spPr>
          <a:xfrm>
            <a:off x="837828" y="1628800"/>
            <a:ext cx="4968552" cy="4608512"/>
          </a:xfrm>
        </p:spPr>
        <p:txBody>
          <a:bodyPr>
            <a:normAutofit/>
          </a:bodyPr>
          <a:lstStyle/>
          <a:p>
            <a:pPr marL="0" indent="0">
              <a:buNone/>
            </a:pPr>
            <a:r>
              <a:rPr lang="en-IN" dirty="0">
                <a:solidFill>
                  <a:schemeClr val="accent2"/>
                </a:solidFill>
              </a:rPr>
              <a:t>Software Requirements:</a:t>
            </a:r>
          </a:p>
          <a:p>
            <a:pPr marL="514350" indent="-514350">
              <a:buFont typeface="+mj-lt"/>
              <a:buAutoNum type="arabicPeriod"/>
            </a:pPr>
            <a:r>
              <a:rPr lang="en-IN" b="1" dirty="0"/>
              <a:t>Language:</a:t>
            </a:r>
            <a:r>
              <a:rPr lang="en-IN" dirty="0"/>
              <a:t> Python</a:t>
            </a:r>
          </a:p>
          <a:p>
            <a:pPr marL="514350" indent="-514350">
              <a:buFont typeface="+mj-lt"/>
              <a:buAutoNum type="arabicPeriod"/>
            </a:pPr>
            <a:r>
              <a:rPr lang="en-IN" b="1" dirty="0"/>
              <a:t>Libraries:</a:t>
            </a:r>
            <a:r>
              <a:rPr lang="en-IN" dirty="0"/>
              <a:t> NLTK, Scikit-learn, Pandas, NumPy</a:t>
            </a:r>
          </a:p>
          <a:p>
            <a:pPr marL="514350" indent="-514350">
              <a:buFont typeface="+mj-lt"/>
              <a:buAutoNum type="arabicPeriod"/>
            </a:pPr>
            <a:r>
              <a:rPr lang="en-IN" b="1" dirty="0"/>
              <a:t>Backend / Frontend:</a:t>
            </a:r>
            <a:r>
              <a:rPr lang="en-IN" dirty="0"/>
              <a:t> Flask, HTML/CSS</a:t>
            </a:r>
          </a:p>
          <a:p>
            <a:pPr marL="514350" indent="-514350">
              <a:buFont typeface="+mj-lt"/>
              <a:buAutoNum type="arabicPeriod"/>
            </a:pPr>
            <a:r>
              <a:rPr lang="en-IN" b="1" dirty="0"/>
              <a:t>Database:</a:t>
            </a:r>
            <a:r>
              <a:rPr lang="en-IN" dirty="0"/>
              <a:t> SQLite</a:t>
            </a:r>
          </a:p>
          <a:p>
            <a:pPr marL="0" indent="0">
              <a:buNone/>
            </a:pPr>
            <a:endParaRPr lang="en-IN" dirty="0">
              <a:solidFill>
                <a:schemeClr val="accent2"/>
              </a:solidFill>
            </a:endParaRPr>
          </a:p>
        </p:txBody>
      </p:sp>
      <p:sp>
        <p:nvSpPr>
          <p:cNvPr id="4" name="Content Placeholder 2">
            <a:extLst>
              <a:ext uri="{FF2B5EF4-FFF2-40B4-BE49-F238E27FC236}">
                <a16:creationId xmlns:a16="http://schemas.microsoft.com/office/drawing/2014/main" id="{ED56C7C8-E21F-D0CF-ECE9-2569840A737A}"/>
              </a:ext>
            </a:extLst>
          </p:cNvPr>
          <p:cNvSpPr txBox="1">
            <a:spLocks/>
          </p:cNvSpPr>
          <p:nvPr/>
        </p:nvSpPr>
        <p:spPr>
          <a:xfrm>
            <a:off x="6127791" y="1492312"/>
            <a:ext cx="5451593" cy="4462272"/>
          </a:xfrm>
          <a:prstGeom prst="rect">
            <a:avLst/>
          </a:prstGeom>
        </p:spPr>
        <p:txBody>
          <a:bodyPr vert="horz" lIns="121899" tIns="60949" rIns="121899" bIns="60949" rtlCol="0">
            <a:norm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indent="0">
              <a:buNone/>
            </a:pPr>
            <a:r>
              <a:rPr lang="en-IN" dirty="0">
                <a:solidFill>
                  <a:schemeClr val="accent2"/>
                </a:solidFill>
              </a:rPr>
              <a:t>Hardware Requirements:</a:t>
            </a:r>
          </a:p>
          <a:p>
            <a:pPr marL="514350" indent="-514350">
              <a:buFont typeface="+mj-lt"/>
              <a:buAutoNum type="arabicPeriod"/>
            </a:pPr>
            <a:r>
              <a:rPr lang="en-IN" b="1" dirty="0"/>
              <a:t>Processor:</a:t>
            </a:r>
            <a:r>
              <a:rPr lang="en-IN" dirty="0"/>
              <a:t> Intel i5 or equivalent – run Python &amp; AI smoothly</a:t>
            </a:r>
          </a:p>
          <a:p>
            <a:pPr marL="514350" indent="-514350">
              <a:buFont typeface="+mj-lt"/>
              <a:buAutoNum type="arabicPeriod"/>
            </a:pPr>
            <a:r>
              <a:rPr lang="en-IN" b="1" dirty="0"/>
              <a:t>RAM:</a:t>
            </a:r>
            <a:r>
              <a:rPr lang="en-IN" dirty="0"/>
              <a:t> 8 GB – handle datasets &amp; training</a:t>
            </a:r>
          </a:p>
          <a:p>
            <a:pPr marL="514350" indent="-514350">
              <a:buFont typeface="+mj-lt"/>
              <a:buAutoNum type="arabicPeriod"/>
            </a:pPr>
            <a:r>
              <a:rPr lang="en-IN" b="1" dirty="0"/>
              <a:t>Storage:</a:t>
            </a:r>
            <a:r>
              <a:rPr lang="en-IN" dirty="0"/>
              <a:t> 256 GB SSD – store files &amp; datasets</a:t>
            </a:r>
          </a:p>
          <a:p>
            <a:pPr marL="514350" indent="-514350">
              <a:buFont typeface="+mj-lt"/>
              <a:buAutoNum type="arabicPeriod"/>
            </a:pPr>
            <a:r>
              <a:rPr lang="en-IN" b="1" dirty="0"/>
              <a:t>Internet:</a:t>
            </a:r>
            <a:r>
              <a:rPr lang="en-IN" dirty="0"/>
              <a:t> Needed to download datasets &amp; libraries</a:t>
            </a:r>
          </a:p>
          <a:p>
            <a:endParaRPr lang="en-IN" dirty="0">
              <a:solidFill>
                <a:schemeClr val="accent2"/>
              </a:solidFill>
            </a:endParaRPr>
          </a:p>
        </p:txBody>
      </p:sp>
    </p:spTree>
    <p:extLst>
      <p:ext uri="{BB962C8B-B14F-4D97-AF65-F5344CB8AC3E}">
        <p14:creationId xmlns:p14="http://schemas.microsoft.com/office/powerpoint/2010/main" val="390701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39F41-79DC-F387-F409-09C89E8301E8}"/>
              </a:ext>
            </a:extLst>
          </p:cNvPr>
          <p:cNvSpPr>
            <a:spLocks noGrp="1"/>
          </p:cNvSpPr>
          <p:nvPr>
            <p:ph type="title"/>
          </p:nvPr>
        </p:nvSpPr>
        <p:spPr/>
        <p:txBody>
          <a:bodyPr/>
          <a:lstStyle/>
          <a:p>
            <a:r>
              <a:rPr lang="en-US" b="1" dirty="0">
                <a:solidFill>
                  <a:schemeClr val="accent1">
                    <a:lumMod val="40000"/>
                    <a:lumOff val="60000"/>
                  </a:schemeClr>
                </a:solidFill>
              </a:rPr>
              <a:t>System Design:</a:t>
            </a:r>
            <a:endParaRPr lang="en-IN" b="1" dirty="0">
              <a:solidFill>
                <a:schemeClr val="accent1">
                  <a:lumMod val="40000"/>
                  <a:lumOff val="60000"/>
                </a:schemeClr>
              </a:solidFill>
            </a:endParaRPr>
          </a:p>
        </p:txBody>
      </p:sp>
      <p:sp>
        <p:nvSpPr>
          <p:cNvPr id="3" name="Content Placeholder 2">
            <a:extLst>
              <a:ext uri="{FF2B5EF4-FFF2-40B4-BE49-F238E27FC236}">
                <a16:creationId xmlns:a16="http://schemas.microsoft.com/office/drawing/2014/main" id="{A14FE159-B166-7FFB-9E30-B140A5C8EFAA}"/>
              </a:ext>
            </a:extLst>
          </p:cNvPr>
          <p:cNvSpPr>
            <a:spLocks noGrp="1"/>
          </p:cNvSpPr>
          <p:nvPr>
            <p:ph idx="1"/>
          </p:nvPr>
        </p:nvSpPr>
        <p:spPr/>
        <p:txBody>
          <a:bodyPr>
            <a:normAutofit/>
          </a:bodyPr>
          <a:lstStyle/>
          <a:p>
            <a:pPr marL="0" indent="0">
              <a:buNone/>
            </a:pPr>
            <a:r>
              <a:rPr lang="en-US" b="1" dirty="0">
                <a:solidFill>
                  <a:schemeClr val="accent2">
                    <a:lumMod val="75000"/>
                  </a:schemeClr>
                </a:solidFill>
              </a:rPr>
              <a:t>Modules:</a:t>
            </a:r>
          </a:p>
          <a:p>
            <a:pPr marL="514350" indent="-514350">
              <a:buFont typeface="+mj-lt"/>
              <a:buAutoNum type="arabicPeriod"/>
            </a:pPr>
            <a:r>
              <a:rPr lang="en-US" b="1" dirty="0"/>
              <a:t>Frontend</a:t>
            </a:r>
            <a:r>
              <a:rPr lang="en-US" dirty="0"/>
              <a:t> – Collects input from the user.</a:t>
            </a:r>
          </a:p>
          <a:p>
            <a:pPr marL="514350" indent="-514350">
              <a:buFont typeface="+mj-lt"/>
              <a:buAutoNum type="arabicPeriod"/>
            </a:pPr>
            <a:r>
              <a:rPr lang="en-US" b="1" dirty="0"/>
              <a:t>Backend</a:t>
            </a:r>
            <a:r>
              <a:rPr lang="en-US" dirty="0"/>
              <a:t>– Processes input and communicates with AI Model and Database.</a:t>
            </a:r>
          </a:p>
          <a:p>
            <a:pPr marL="514350" indent="-514350">
              <a:buFont typeface="+mj-lt"/>
              <a:buAutoNum type="arabicPeriod"/>
            </a:pPr>
            <a:r>
              <a:rPr lang="en-US" b="1" dirty="0"/>
              <a:t>AI Model &amp; Recommendation</a:t>
            </a:r>
            <a:r>
              <a:rPr lang="en-US" dirty="0"/>
              <a:t> – Predicts emotions from user text and give </a:t>
            </a:r>
            <a:r>
              <a:rPr lang="en-IN" dirty="0"/>
              <a:t>suggestions based on emotion.</a:t>
            </a:r>
            <a:endParaRPr lang="en-US" dirty="0"/>
          </a:p>
          <a:p>
            <a:pPr marL="514350" indent="-514350">
              <a:buFont typeface="+mj-lt"/>
              <a:buAutoNum type="arabicPeriod"/>
            </a:pPr>
            <a:r>
              <a:rPr lang="en-US" b="1" dirty="0"/>
              <a:t>Database</a:t>
            </a:r>
            <a:r>
              <a:rPr lang="en-US" dirty="0"/>
              <a:t> – Stores user input, predictions, and recommendations.</a:t>
            </a:r>
            <a:endParaRPr lang="en-IN" dirty="0"/>
          </a:p>
          <a:p>
            <a:pPr marL="514350" indent="-514350">
              <a:buFont typeface="+mj-lt"/>
              <a:buAutoNum type="arabicPeriod"/>
            </a:pPr>
            <a:r>
              <a:rPr lang="en-US" b="1" dirty="0"/>
              <a:t>Visualization</a:t>
            </a:r>
            <a:r>
              <a:rPr lang="en-US" dirty="0"/>
              <a:t> – Displays charts and dashboards.</a:t>
            </a:r>
            <a:endParaRPr lang="en-IN" dirty="0"/>
          </a:p>
        </p:txBody>
      </p:sp>
    </p:spTree>
    <p:extLst>
      <p:ext uri="{BB962C8B-B14F-4D97-AF65-F5344CB8AC3E}">
        <p14:creationId xmlns:p14="http://schemas.microsoft.com/office/powerpoint/2010/main" val="257714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CEB8F-3D8C-FACB-CE2E-F48774363053}"/>
              </a:ext>
            </a:extLst>
          </p:cNvPr>
          <p:cNvSpPr>
            <a:spLocks noGrp="1"/>
          </p:cNvSpPr>
          <p:nvPr>
            <p:ph type="title"/>
          </p:nvPr>
        </p:nvSpPr>
        <p:spPr/>
        <p:txBody>
          <a:bodyPr/>
          <a:lstStyle/>
          <a:p>
            <a:r>
              <a:rPr lang="en-US" b="1" dirty="0">
                <a:solidFill>
                  <a:schemeClr val="accent1">
                    <a:lumMod val="60000"/>
                    <a:lumOff val="40000"/>
                  </a:schemeClr>
                </a:solidFill>
              </a:rPr>
              <a:t>System Architecture:</a:t>
            </a:r>
            <a:endParaRPr lang="en-IN" b="1" dirty="0">
              <a:solidFill>
                <a:schemeClr val="accent1">
                  <a:lumMod val="60000"/>
                  <a:lumOff val="40000"/>
                </a:schemeClr>
              </a:solidFill>
            </a:endParaRPr>
          </a:p>
        </p:txBody>
      </p:sp>
      <p:pic>
        <p:nvPicPr>
          <p:cNvPr id="5" name="Content Placeholder 4">
            <a:extLst>
              <a:ext uri="{FF2B5EF4-FFF2-40B4-BE49-F238E27FC236}">
                <a16:creationId xmlns:a16="http://schemas.microsoft.com/office/drawing/2014/main" id="{F8B5AD1E-0210-CF74-8B13-A773018D73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6551" y="1700808"/>
            <a:ext cx="9486373" cy="4680520"/>
          </a:xfrm>
          <a:prstGeom prst="rect">
            <a:avLst/>
          </a:prstGeom>
        </p:spPr>
      </p:pic>
    </p:spTree>
    <p:extLst>
      <p:ext uri="{BB962C8B-B14F-4D97-AF65-F5344CB8AC3E}">
        <p14:creationId xmlns:p14="http://schemas.microsoft.com/office/powerpoint/2010/main" val="2787512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E9CA7-6EAF-3D99-7F0F-56EF9278CAFE}"/>
              </a:ext>
            </a:extLst>
          </p:cNvPr>
          <p:cNvSpPr>
            <a:spLocks noGrp="1"/>
          </p:cNvSpPr>
          <p:nvPr>
            <p:ph type="title"/>
          </p:nvPr>
        </p:nvSpPr>
        <p:spPr>
          <a:xfrm>
            <a:off x="958416" y="1"/>
            <a:ext cx="10360501" cy="2132856"/>
          </a:xfrm>
        </p:spPr>
        <p:txBody>
          <a:bodyPr/>
          <a:lstStyle/>
          <a:p>
            <a:r>
              <a:rPr lang="en-IN" b="1" dirty="0">
                <a:solidFill>
                  <a:schemeClr val="accent1">
                    <a:lumMod val="60000"/>
                    <a:lumOff val="40000"/>
                  </a:schemeClr>
                </a:solidFill>
              </a:rPr>
              <a:t>Implementation:</a:t>
            </a:r>
            <a:br>
              <a:rPr lang="en-IN" b="1" dirty="0">
                <a:solidFill>
                  <a:schemeClr val="accent1">
                    <a:lumMod val="60000"/>
                    <a:lumOff val="40000"/>
                  </a:schemeClr>
                </a:solidFill>
              </a:rPr>
            </a:br>
            <a:br>
              <a:rPr lang="en-IN" dirty="0">
                <a:solidFill>
                  <a:schemeClr val="accent1">
                    <a:lumMod val="60000"/>
                    <a:lumOff val="40000"/>
                  </a:schemeClr>
                </a:solidFill>
              </a:rPr>
            </a:br>
            <a:r>
              <a:rPr lang="en-IN" dirty="0">
                <a:solidFill>
                  <a:schemeClr val="accent1">
                    <a:lumMod val="60000"/>
                    <a:lumOff val="40000"/>
                  </a:schemeClr>
                </a:solidFill>
              </a:rPr>
              <a:t>Week 1:</a:t>
            </a:r>
          </a:p>
        </p:txBody>
      </p:sp>
      <p:sp>
        <p:nvSpPr>
          <p:cNvPr id="3" name="Content Placeholder 2">
            <a:extLst>
              <a:ext uri="{FF2B5EF4-FFF2-40B4-BE49-F238E27FC236}">
                <a16:creationId xmlns:a16="http://schemas.microsoft.com/office/drawing/2014/main" id="{8F677578-3330-1E22-868F-618857AEE895}"/>
              </a:ext>
            </a:extLst>
          </p:cNvPr>
          <p:cNvSpPr>
            <a:spLocks noGrp="1"/>
          </p:cNvSpPr>
          <p:nvPr>
            <p:ph idx="1"/>
          </p:nvPr>
        </p:nvSpPr>
        <p:spPr>
          <a:xfrm>
            <a:off x="981844" y="2132856"/>
            <a:ext cx="10360501" cy="5039571"/>
          </a:xfrm>
        </p:spPr>
        <p:txBody>
          <a:bodyPr/>
          <a:lstStyle/>
          <a:p>
            <a:pPr marL="0" indent="0">
              <a:buNone/>
            </a:pPr>
            <a:r>
              <a:rPr lang="en-US" sz="2400" b="1" dirty="0">
                <a:solidFill>
                  <a:schemeClr val="accent1">
                    <a:lumMod val="60000"/>
                    <a:lumOff val="40000"/>
                  </a:schemeClr>
                </a:solidFill>
              </a:rPr>
              <a:t>Overview</a:t>
            </a:r>
            <a:r>
              <a:rPr lang="en-US" sz="2400" b="1" dirty="0"/>
              <a:t>:</a:t>
            </a:r>
          </a:p>
          <a:p>
            <a:r>
              <a:rPr lang="en-US" sz="2400" dirty="0"/>
              <a:t>In Week 1, we started the project implementation, finalized the tools and technologies, collected the dataset, and designed the basic workflow of the system</a:t>
            </a:r>
          </a:p>
          <a:p>
            <a:endParaRPr lang="en-US" sz="2400" dirty="0"/>
          </a:p>
          <a:p>
            <a:pPr marL="0" lvl="0" indent="0" defTabSz="914400" eaLnBrk="0" fontAlgn="base" hangingPunct="0">
              <a:lnSpc>
                <a:spcPct val="100000"/>
              </a:lnSpc>
              <a:spcBef>
                <a:spcPct val="0"/>
              </a:spcBef>
              <a:spcAft>
                <a:spcPct val="0"/>
              </a:spcAft>
              <a:buClrTx/>
              <a:buSzTx/>
              <a:buNone/>
            </a:pPr>
            <a:r>
              <a:rPr lang="en-US" sz="2400" b="1" dirty="0">
                <a:solidFill>
                  <a:schemeClr val="accent1">
                    <a:lumMod val="60000"/>
                    <a:lumOff val="40000"/>
                  </a:schemeClr>
                </a:solidFill>
              </a:rPr>
              <a:t>Discussions Done This Week</a:t>
            </a:r>
            <a:r>
              <a:rPr lang="en-US" b="1" dirty="0">
                <a:solidFill>
                  <a:schemeClr val="accent1">
                    <a:lumMod val="60000"/>
                    <a:lumOff val="40000"/>
                  </a:schemeClr>
                </a:solidFill>
              </a:rPr>
              <a:t>:</a:t>
            </a:r>
          </a:p>
          <a:p>
            <a:pPr marL="0" lvl="0" indent="0" defTabSz="914400" eaLnBrk="0" fontAlgn="base" hangingPunct="0">
              <a:lnSpc>
                <a:spcPct val="100000"/>
              </a:lnSpc>
              <a:spcBef>
                <a:spcPct val="0"/>
              </a:spcBef>
              <a:spcAft>
                <a:spcPct val="0"/>
              </a:spcAft>
              <a:buClrTx/>
              <a:buSzTx/>
              <a:buFontTx/>
              <a:buChar char="•"/>
            </a:pPr>
            <a:endParaRPr lang="en-US" dirty="0"/>
          </a:p>
          <a:p>
            <a:pPr marL="0" lvl="0" indent="0" algn="just"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Discussed the tools and technologies to be used </a:t>
            </a:r>
          </a:p>
          <a:p>
            <a:pPr marL="0" lvl="0" indent="0" algn="just"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Discussed how the system will work </a:t>
            </a:r>
          </a:p>
          <a:p>
            <a:pPr marL="0" lvl="0" indent="0" algn="just"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Planned how to prepare and clean the data </a:t>
            </a:r>
          </a:p>
          <a:p>
            <a:pPr marL="0" lvl="0" indent="0" algn="just"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Discussed how the model will detect emotions </a:t>
            </a:r>
          </a:p>
          <a:p>
            <a:pPr marL="0" lvl="0" indent="0" algn="just"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Planned the next steps for development </a:t>
            </a:r>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294945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A07A-9AB2-63DB-837C-6344B59EA6FE}"/>
              </a:ext>
            </a:extLst>
          </p:cNvPr>
          <p:cNvSpPr>
            <a:spLocks noGrp="1"/>
          </p:cNvSpPr>
          <p:nvPr>
            <p:ph type="title"/>
          </p:nvPr>
        </p:nvSpPr>
        <p:spPr>
          <a:xfrm>
            <a:off x="914161" y="-315416"/>
            <a:ext cx="10360501" cy="1223963"/>
          </a:xfrm>
        </p:spPr>
        <p:txBody>
          <a:bodyPr/>
          <a:lstStyle/>
          <a:p>
            <a:r>
              <a:rPr lang="en-IN" b="1" dirty="0">
                <a:solidFill>
                  <a:schemeClr val="accent1">
                    <a:lumMod val="60000"/>
                    <a:lumOff val="40000"/>
                  </a:schemeClr>
                </a:solidFill>
              </a:rPr>
              <a:t>Implementation</a:t>
            </a:r>
            <a:r>
              <a:rPr lang="en-IN" dirty="0">
                <a:solidFill>
                  <a:schemeClr val="accent1">
                    <a:lumMod val="75000"/>
                  </a:schemeClr>
                </a:solidFill>
              </a:rPr>
              <a:t>:</a:t>
            </a:r>
          </a:p>
        </p:txBody>
      </p:sp>
      <p:sp>
        <p:nvSpPr>
          <p:cNvPr id="4" name="Rectangle 1">
            <a:extLst>
              <a:ext uri="{FF2B5EF4-FFF2-40B4-BE49-F238E27FC236}">
                <a16:creationId xmlns:a16="http://schemas.microsoft.com/office/drawing/2014/main" id="{ED97BC38-8D7C-A20B-47B7-266E4DBD28AC}"/>
              </a:ext>
            </a:extLst>
          </p:cNvPr>
          <p:cNvSpPr>
            <a:spLocks noGrp="1" noChangeArrowheads="1"/>
          </p:cNvSpPr>
          <p:nvPr>
            <p:ph idx="1"/>
          </p:nvPr>
        </p:nvSpPr>
        <p:spPr bwMode="auto">
          <a:xfrm>
            <a:off x="912437" y="692696"/>
            <a:ext cx="10657184" cy="627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lnSpc>
                <a:spcPct val="100000"/>
              </a:lnSpc>
              <a:spcBef>
                <a:spcPct val="0"/>
              </a:spcBef>
              <a:spcAft>
                <a:spcPct val="0"/>
              </a:spcAft>
              <a:buClrTx/>
              <a:buSzTx/>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Installed </a:t>
            </a:r>
            <a:r>
              <a:rPr kumimoji="0" lang="en-US" altLang="en-US" sz="2400" b="1" i="0" u="none" strike="noStrike" cap="none" normalizeH="0" baseline="0" dirty="0">
                <a:ln>
                  <a:noFill/>
                </a:ln>
                <a:solidFill>
                  <a:schemeClr val="tx1"/>
                </a:solidFill>
                <a:effectLst/>
                <a:latin typeface="Arial" panose="020B0604020202020204" pitchFamily="34" charset="0"/>
              </a:rPr>
              <a:t>Python</a:t>
            </a:r>
            <a:r>
              <a:rPr kumimoji="0" lang="en-US" altLang="en-US" sz="2400" b="0" i="0" u="none" strike="noStrike" cap="none" normalizeH="0" baseline="0" dirty="0">
                <a:ln>
                  <a:noFill/>
                </a:ln>
                <a:solidFill>
                  <a:schemeClr val="tx1"/>
                </a:solidFill>
                <a:effectLst/>
                <a:latin typeface="Arial" panose="020B0604020202020204" pitchFamily="34" charset="0"/>
              </a:rPr>
              <a:t> for development </a:t>
            </a:r>
          </a:p>
          <a:p>
            <a:pPr defTabSz="914400" eaLnBrk="0" fontAlgn="base" hangingPunct="0">
              <a:lnSpc>
                <a:spcPct val="100000"/>
              </a:lnSpc>
              <a:spcBef>
                <a:spcPct val="0"/>
              </a:spcBef>
              <a:spcAft>
                <a:spcPct val="0"/>
              </a:spcAft>
              <a:buClrTx/>
              <a:buSzTx/>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Set up development environment using </a:t>
            </a:r>
            <a:r>
              <a:rPr kumimoji="0" lang="en-US" altLang="en-US" sz="2400" b="1" i="0" u="none" strike="noStrike" cap="none" normalizeH="0" baseline="0" dirty="0">
                <a:ln>
                  <a:noFill/>
                </a:ln>
                <a:solidFill>
                  <a:schemeClr val="tx1"/>
                </a:solidFill>
                <a:effectLst/>
                <a:latin typeface="Arial" panose="020B0604020202020204" pitchFamily="34" charset="0"/>
              </a:rPr>
              <a:t>VS Code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defTabSz="914400" eaLnBrk="0" fontAlgn="base" hangingPunct="0">
              <a:lnSpc>
                <a:spcPct val="100000"/>
              </a:lnSpc>
              <a:spcBef>
                <a:spcPct val="0"/>
              </a:spcBef>
              <a:spcAft>
                <a:spcPct val="0"/>
              </a:spcAft>
              <a:buClrTx/>
              <a:buSzTx/>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Installed required libraries</a:t>
            </a:r>
          </a:p>
          <a:p>
            <a:pPr defTabSz="914400" eaLnBrk="0" fontAlgn="base" hangingPunct="0">
              <a:lnSpc>
                <a:spcPct val="100000"/>
              </a:lnSpc>
              <a:spcBef>
                <a:spcPct val="0"/>
              </a:spcBef>
              <a:spcAft>
                <a:spcPct val="0"/>
              </a:spcAft>
              <a:buClrTx/>
              <a:buSzTx/>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Verified installation of all required packages </a:t>
            </a:r>
          </a:p>
          <a:p>
            <a:pPr defTabSz="914400" eaLnBrk="0" fontAlgn="base" hangingPunct="0">
              <a:lnSpc>
                <a:spcPct val="100000"/>
              </a:lnSpc>
              <a:spcBef>
                <a:spcPct val="0"/>
              </a:spcBef>
              <a:spcAft>
                <a:spcPct val="0"/>
              </a:spcAft>
              <a:buClrTx/>
              <a:buSzTx/>
              <a:buFont typeface="Wingdings" panose="05000000000000000000" pitchFamily="2" charset="2"/>
              <a:buChar char="§"/>
            </a:pPr>
            <a:r>
              <a:rPr kumimoji="0" lang="en-US" altLang="en-US" sz="2400" b="0" i="0" u="none" strike="noStrike" cap="none" normalizeH="0" baseline="0" dirty="0">
                <a:ln>
                  <a:noFill/>
                </a:ln>
                <a:solidFill>
                  <a:schemeClr val="tx1"/>
                </a:solidFill>
                <a:effectLst/>
                <a:latin typeface="Arial" panose="020B0604020202020204" pitchFamily="34" charset="0"/>
              </a:rPr>
              <a:t>Set up basic project folder structure </a:t>
            </a:r>
          </a:p>
          <a:p>
            <a:pPr defTabSz="914400" eaLnBrk="0" fontAlgn="base" hangingPunct="0">
              <a:lnSpc>
                <a:spcPct val="100000"/>
              </a:lnSpc>
              <a:spcBef>
                <a:spcPct val="0"/>
              </a:spcBef>
              <a:spcAft>
                <a:spcPct val="0"/>
              </a:spcAft>
              <a:buClrTx/>
              <a:buSzTx/>
              <a:buFont typeface="Wingdings" panose="05000000000000000000" pitchFamily="2" charset="2"/>
              <a:buChar char="§"/>
            </a:pPr>
            <a:r>
              <a:rPr lang="en-US" sz="2400" dirty="0"/>
              <a:t>Designed the initial system workflow</a:t>
            </a:r>
          </a:p>
          <a:p>
            <a:pPr defTabSz="914400" eaLnBrk="0" fontAlgn="base" hangingPunct="0">
              <a:lnSpc>
                <a:spcPct val="100000"/>
              </a:lnSpc>
              <a:spcBef>
                <a:spcPct val="0"/>
              </a:spcBef>
              <a:spcAft>
                <a:spcPct val="0"/>
              </a:spcAft>
              <a:buClrTx/>
              <a:buSzTx/>
              <a:buFont typeface="Wingdings" panose="05000000000000000000" pitchFamily="2" charset="2"/>
              <a:buChar char="§"/>
            </a:pPr>
            <a:r>
              <a:rPr lang="en-US" sz="2400" dirty="0"/>
              <a:t>Planned and started setup for external APIs </a:t>
            </a:r>
          </a:p>
          <a:p>
            <a:pPr marL="0" indent="0" defTabSz="914400" eaLnBrk="0" fontAlgn="base"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indent="0" defTabSz="914400" eaLnBrk="0" fontAlgn="base" hangingPunct="0">
              <a:lnSpc>
                <a:spcPct val="100000"/>
              </a:lnSpc>
              <a:spcBef>
                <a:spcPct val="0"/>
              </a:spcBef>
              <a:spcAft>
                <a:spcPct val="0"/>
              </a:spcAft>
              <a:buClrTx/>
              <a:buSzTx/>
              <a:buNone/>
            </a:pPr>
            <a:r>
              <a:rPr kumimoji="0" lang="en-US" altLang="en-US" sz="2400" b="1" i="0" u="none" strike="noStrike" cap="none" normalizeH="0" baseline="0" dirty="0">
                <a:ln>
                  <a:noFill/>
                </a:ln>
                <a:solidFill>
                  <a:schemeClr val="accent1">
                    <a:lumMod val="60000"/>
                    <a:lumOff val="40000"/>
                  </a:schemeClr>
                </a:solidFill>
                <a:effectLst/>
                <a:latin typeface="Arial" panose="020B0604020202020204" pitchFamily="34" charset="0"/>
              </a:rPr>
              <a:t>Conclusion</a:t>
            </a:r>
            <a:r>
              <a:rPr kumimoji="0" lang="en-US" altLang="en-US" sz="2400" b="0" i="0" u="none" strike="noStrike" cap="none" normalizeH="0" baseline="0" dirty="0">
                <a:ln>
                  <a:noFill/>
                </a:ln>
                <a:solidFill>
                  <a:schemeClr val="accent1">
                    <a:lumMod val="75000"/>
                  </a:schemeClr>
                </a:solidFill>
                <a:effectLst/>
                <a:latin typeface="Arial" panose="020B0604020202020204" pitchFamily="34" charset="0"/>
              </a:rPr>
              <a:t>:</a:t>
            </a:r>
          </a:p>
          <a:p>
            <a:pPr marL="0" indent="0" defTabSz="914400" eaLnBrk="0" fontAlgn="base"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accent1">
                  <a:lumMod val="75000"/>
                </a:schemeClr>
              </a:solidFill>
              <a:effectLst/>
              <a:latin typeface="Arial" panose="020B0604020202020204" pitchFamily="34" charset="0"/>
            </a:endParaRPr>
          </a:p>
          <a:p>
            <a:pPr defTabSz="914400" eaLnBrk="0" fontAlgn="base" hangingPunct="0">
              <a:lnSpc>
                <a:spcPct val="100000"/>
              </a:lnSpc>
              <a:spcBef>
                <a:spcPct val="0"/>
              </a:spcBef>
              <a:spcAft>
                <a:spcPct val="0"/>
              </a:spcAft>
              <a:buClrTx/>
              <a:buSzTx/>
            </a:pPr>
            <a:r>
              <a:rPr lang="en-US" altLang="en-US" sz="2400" dirty="0">
                <a:latin typeface="Arial" panose="020B0604020202020204" pitchFamily="34" charset="0"/>
              </a:rPr>
              <a:t>Successfully set up the development environment</a:t>
            </a:r>
          </a:p>
          <a:p>
            <a:pPr defTabSz="914400" eaLnBrk="0" fontAlgn="base" hangingPunct="0">
              <a:lnSpc>
                <a:spcPct val="100000"/>
              </a:lnSpc>
              <a:spcBef>
                <a:spcPct val="0"/>
              </a:spcBef>
              <a:spcAft>
                <a:spcPct val="0"/>
              </a:spcAft>
              <a:buClrTx/>
              <a:buSzTx/>
            </a:pPr>
            <a:r>
              <a:rPr lang="en-US" altLang="en-US" sz="2400" dirty="0">
                <a:latin typeface="Arial" panose="020B0604020202020204" pitchFamily="34" charset="0"/>
              </a:rPr>
              <a:t>Completed initial project setup and workflow design</a:t>
            </a:r>
          </a:p>
          <a:p>
            <a:pPr defTabSz="914400" eaLnBrk="0" fontAlgn="base" hangingPunct="0">
              <a:lnSpc>
                <a:spcPct val="100000"/>
              </a:lnSpc>
              <a:spcBef>
                <a:spcPct val="0"/>
              </a:spcBef>
              <a:spcAft>
                <a:spcPct val="0"/>
              </a:spcAft>
              <a:buClrTx/>
              <a:buSzTx/>
            </a:pPr>
            <a:r>
              <a:rPr lang="en-US" altLang="en-US" sz="2400" dirty="0">
                <a:latin typeface="Arial" panose="020B0604020202020204" pitchFamily="34" charset="0"/>
              </a:rPr>
              <a:t>Prepared the system for further development in upcoming weeks </a:t>
            </a:r>
          </a:p>
          <a:p>
            <a:pPr marL="0" indent="0" defTabSz="914400" eaLnBrk="0" fontAlgn="base" hangingPunct="0">
              <a:lnSpc>
                <a:spcPct val="100000"/>
              </a:lnSpc>
              <a:spcBef>
                <a:spcPct val="0"/>
              </a:spcBef>
              <a:spcAft>
                <a:spcPct val="0"/>
              </a:spcAft>
              <a:buClrTx/>
              <a:buSzTx/>
              <a:buNone/>
            </a:pPr>
            <a:r>
              <a:rPr lang="en-US" altLang="en-US" sz="2400" dirty="0">
                <a:latin typeface="Arial" panose="020B0604020202020204" pitchFamily="34" charset="0"/>
              </a:rPr>
              <a:t> </a:t>
            </a:r>
          </a:p>
          <a:p>
            <a:pPr marL="0" indent="0" defTabSz="914400" eaLnBrk="0" fontAlgn="base" hangingPunct="0">
              <a:lnSpc>
                <a:spcPct val="100000"/>
              </a:lnSpc>
              <a:spcBef>
                <a:spcPct val="0"/>
              </a:spcBef>
              <a:spcAft>
                <a:spcPct val="0"/>
              </a:spcAft>
              <a:buClrTx/>
              <a:buSzTx/>
              <a:buNone/>
            </a:pPr>
            <a:r>
              <a:rPr lang="en-US" altLang="en-US" sz="2400" dirty="0">
                <a:latin typeface="Arial" panose="020B0604020202020204" pitchFamily="34" charset="0"/>
              </a:rPr>
              <a:t> </a:t>
            </a:r>
          </a:p>
          <a:p>
            <a:pPr marL="0" indent="0" defTabSz="914400" eaLnBrk="0" fontAlgn="base"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accent1">
                  <a:lumMod val="75000"/>
                </a:schemeClr>
              </a:solidFill>
              <a:effectLst/>
              <a:latin typeface="Arial" panose="020B0604020202020204" pitchFamily="34" charset="0"/>
            </a:endParaRPr>
          </a:p>
        </p:txBody>
      </p:sp>
    </p:spTree>
    <p:extLst>
      <p:ext uri="{BB962C8B-B14F-4D97-AF65-F5344CB8AC3E}">
        <p14:creationId xmlns:p14="http://schemas.microsoft.com/office/powerpoint/2010/main" val="3826057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D861C-B770-EEA1-30A3-075E0A083DDA}"/>
              </a:ext>
            </a:extLst>
          </p:cNvPr>
          <p:cNvSpPr>
            <a:spLocks noGrp="1"/>
          </p:cNvSpPr>
          <p:nvPr>
            <p:ph type="title"/>
          </p:nvPr>
        </p:nvSpPr>
        <p:spPr/>
        <p:txBody>
          <a:bodyPr/>
          <a:lstStyle/>
          <a:p>
            <a:r>
              <a:rPr lang="en-IN" b="1" dirty="0">
                <a:solidFill>
                  <a:schemeClr val="accent1">
                    <a:lumMod val="60000"/>
                    <a:lumOff val="40000"/>
                  </a:schemeClr>
                </a:solidFill>
              </a:rPr>
              <a:t>Week 2:</a:t>
            </a:r>
          </a:p>
        </p:txBody>
      </p:sp>
      <p:sp>
        <p:nvSpPr>
          <p:cNvPr id="3" name="Content Placeholder 2">
            <a:extLst>
              <a:ext uri="{FF2B5EF4-FFF2-40B4-BE49-F238E27FC236}">
                <a16:creationId xmlns:a16="http://schemas.microsoft.com/office/drawing/2014/main" id="{08E69FE2-3748-5E82-9B55-6EFE86EE6815}"/>
              </a:ext>
            </a:extLst>
          </p:cNvPr>
          <p:cNvSpPr>
            <a:spLocks noGrp="1"/>
          </p:cNvSpPr>
          <p:nvPr>
            <p:ph idx="1"/>
          </p:nvPr>
        </p:nvSpPr>
        <p:spPr/>
        <p:txBody>
          <a:bodyPr>
            <a:normAutofit lnSpcReduction="10000"/>
          </a:bodyPr>
          <a:lstStyle/>
          <a:p>
            <a:pPr algn="just"/>
            <a:r>
              <a:rPr lang="en-IN" b="1" dirty="0">
                <a:solidFill>
                  <a:schemeClr val="accent1">
                    <a:lumMod val="60000"/>
                    <a:lumOff val="40000"/>
                  </a:schemeClr>
                </a:solidFill>
              </a:rPr>
              <a:t>Overview</a:t>
            </a:r>
            <a:r>
              <a:rPr lang="en-IN" dirty="0"/>
              <a:t>: </a:t>
            </a:r>
            <a:r>
              <a:rPr lang="en-US" sz="2000" dirty="0"/>
              <a:t>In Week 2, we focused on working with the dataset and performing text preprocessing to prepare the data. We also started building and training the machine learning model. This phase marked the transition from initial setup to actual implementation of the system.</a:t>
            </a:r>
          </a:p>
          <a:p>
            <a:pPr marL="0" indent="0">
              <a:buNone/>
            </a:pPr>
            <a:endParaRPr lang="en-US" sz="2000" dirty="0"/>
          </a:p>
          <a:p>
            <a:r>
              <a:rPr lang="en-US" sz="3000" b="1" dirty="0">
                <a:solidFill>
                  <a:schemeClr val="accent1">
                    <a:lumMod val="60000"/>
                    <a:lumOff val="40000"/>
                  </a:schemeClr>
                </a:solidFill>
              </a:rPr>
              <a:t>Discussions Done This Week:</a:t>
            </a:r>
          </a:p>
          <a:p>
            <a:r>
              <a:rPr lang="en-US" sz="2000" dirty="0"/>
              <a:t>Discussed how to clean and prepare the data</a:t>
            </a:r>
          </a:p>
          <a:p>
            <a:r>
              <a:rPr lang="en-US" altLang="en-US" sz="2000" dirty="0">
                <a:latin typeface="Arial" panose="020B0604020202020204" pitchFamily="34" charset="0"/>
              </a:rPr>
              <a:t>Explored different ways to convert text into usable form</a:t>
            </a:r>
          </a:p>
          <a:p>
            <a:r>
              <a:rPr lang="en-US" altLang="en-US" sz="2000" dirty="0">
                <a:latin typeface="Arial" panose="020B0604020202020204" pitchFamily="34" charset="0"/>
              </a:rPr>
              <a:t>Discussed model building approach </a:t>
            </a:r>
          </a:p>
          <a:p>
            <a:r>
              <a:rPr lang="en-US" altLang="en-US" sz="2000" dirty="0">
                <a:latin typeface="Arial" panose="020B0604020202020204" pitchFamily="34" charset="0"/>
              </a:rPr>
              <a:t>Reviewed initial model performance </a:t>
            </a:r>
          </a:p>
          <a:p>
            <a:r>
              <a:rPr lang="en-US" altLang="en-US" sz="2000" dirty="0">
                <a:latin typeface="Arial" panose="020B0604020202020204" pitchFamily="34" charset="0"/>
              </a:rPr>
              <a:t>Planned next steps for improvement </a:t>
            </a: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sz="2000" dirty="0"/>
          </a:p>
          <a:p>
            <a:endParaRPr lang="en-IN" sz="2000" dirty="0"/>
          </a:p>
        </p:txBody>
      </p:sp>
    </p:spTree>
    <p:extLst>
      <p:ext uri="{BB962C8B-B14F-4D97-AF65-F5344CB8AC3E}">
        <p14:creationId xmlns:p14="http://schemas.microsoft.com/office/powerpoint/2010/main" val="2401537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81CDC-773D-18E4-4D50-D99C2C872A4F}"/>
              </a:ext>
            </a:extLst>
          </p:cNvPr>
          <p:cNvSpPr>
            <a:spLocks noGrp="1"/>
          </p:cNvSpPr>
          <p:nvPr>
            <p:ph type="title"/>
          </p:nvPr>
        </p:nvSpPr>
        <p:spPr>
          <a:xfrm>
            <a:off x="1050465" y="0"/>
            <a:ext cx="10360501" cy="1223963"/>
          </a:xfrm>
        </p:spPr>
        <p:txBody>
          <a:bodyPr/>
          <a:lstStyle/>
          <a:p>
            <a:r>
              <a:rPr lang="en-IN" b="1" dirty="0">
                <a:solidFill>
                  <a:schemeClr val="accent1">
                    <a:lumMod val="60000"/>
                    <a:lumOff val="40000"/>
                  </a:schemeClr>
                </a:solidFill>
              </a:rPr>
              <a:t>Implementation</a:t>
            </a:r>
            <a:r>
              <a:rPr lang="en-IN" dirty="0">
                <a:solidFill>
                  <a:schemeClr val="accent1">
                    <a:lumMod val="75000"/>
                  </a:schemeClr>
                </a:solidFill>
              </a:rPr>
              <a:t>:</a:t>
            </a:r>
          </a:p>
        </p:txBody>
      </p:sp>
      <p:sp>
        <p:nvSpPr>
          <p:cNvPr id="8" name="Rectangle 5">
            <a:extLst>
              <a:ext uri="{FF2B5EF4-FFF2-40B4-BE49-F238E27FC236}">
                <a16:creationId xmlns:a16="http://schemas.microsoft.com/office/drawing/2014/main" id="{13EEA4DA-6EA4-E797-8BA2-80A24F7E3964}"/>
              </a:ext>
            </a:extLst>
          </p:cNvPr>
          <p:cNvSpPr>
            <a:spLocks noGrp="1" noChangeArrowheads="1"/>
          </p:cNvSpPr>
          <p:nvPr>
            <p:ph idx="1"/>
          </p:nvPr>
        </p:nvSpPr>
        <p:spPr bwMode="auto">
          <a:xfrm>
            <a:off x="1064359" y="1471622"/>
            <a:ext cx="10060105" cy="6032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accent1">
                  <a:lumMod val="60000"/>
                  <a:lumOff val="4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Loaded and explored the dataset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Performed text cleaning and preprocessing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Removed unwanted words and characters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Converted text data into numerical format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Split data into training and testing sets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Started building and training the model </a:t>
            </a: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solidFill>
                  <a:schemeClr val="accent1">
                    <a:lumMod val="60000"/>
                    <a:lumOff val="40000"/>
                  </a:schemeClr>
                </a:solidFill>
                <a:latin typeface="Arial" panose="020B0604020202020204" pitchFamily="34" charset="0"/>
              </a:rPr>
              <a:t>Conclusion</a:t>
            </a:r>
            <a:r>
              <a:rPr lang="en-US" altLang="en-US" dirty="0">
                <a:solidFill>
                  <a:schemeClr val="accent1">
                    <a:lumMod val="75000"/>
                  </a:schemeClr>
                </a:solidFill>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solidFill>
                <a:schemeClr val="accent1">
                  <a:lumMod val="75000"/>
                </a:schemeClr>
              </a:solidFill>
              <a:latin typeface="Arial" panose="020B0604020202020204" pitchFamily="34" charset="0"/>
            </a:endParaRPr>
          </a:p>
          <a:p>
            <a:pPr mar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Data preprocessing completed </a:t>
            </a:r>
          </a:p>
          <a:p>
            <a:pPr mar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Model building started </a:t>
            </a:r>
          </a:p>
          <a:p>
            <a:pPr mar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Initial training process initiated </a:t>
            </a:r>
          </a:p>
          <a:p>
            <a:pPr mar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Ready for further improvement </a:t>
            </a:r>
          </a:p>
          <a:p>
            <a:pPr marL="0" indent="0" defTabSz="914400" eaLnBrk="0" fontAlgn="base" hangingPunct="0">
              <a:lnSpc>
                <a:spcPct val="100000"/>
              </a:lnSpc>
              <a:spcBef>
                <a:spcPct val="0"/>
              </a:spcBef>
              <a:spcAft>
                <a:spcPct val="0"/>
              </a:spcAft>
              <a:buClrTx/>
              <a:buSzTx/>
              <a:buFontTx/>
              <a:buChar char="•"/>
            </a:pPr>
            <a:endParaRPr lang="en-US" altLang="en-US" sz="2000" dirty="0">
              <a:latin typeface="Arial" panose="020B0604020202020204" pitchFamily="34" charset="0"/>
            </a:endParaRPr>
          </a:p>
          <a:p>
            <a:pPr marL="0" indent="0" defTabSz="914400" eaLnBrk="0" fontAlgn="base" hangingPunct="0">
              <a:lnSpc>
                <a:spcPct val="100000"/>
              </a:lnSpc>
              <a:spcBef>
                <a:spcPct val="0"/>
              </a:spcBef>
              <a:spcAft>
                <a:spcPct val="0"/>
              </a:spcAft>
              <a:buClrTx/>
              <a:buSzTx/>
              <a:buFontTx/>
              <a:buChar char="•"/>
            </a:pPr>
            <a:endParaRPr lang="en-US" altLang="en-US" sz="2000" dirty="0">
              <a:latin typeface="Arial" panose="020B0604020202020204" pitchFamily="34" charset="0"/>
            </a:endParaRPr>
          </a:p>
          <a:p>
            <a:pPr marL="0" indent="0" defTabSz="914400" eaLnBrk="0" fontAlgn="base" hangingPunct="0">
              <a:lnSpc>
                <a:spcPct val="100000"/>
              </a:lnSpc>
              <a:spcBef>
                <a:spcPct val="0"/>
              </a:spcBef>
              <a:spcAft>
                <a:spcPct val="0"/>
              </a:spcAft>
              <a:buClrTx/>
              <a:buSzTx/>
              <a:buFontTx/>
              <a:buChar char="•"/>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solidFill>
                <a:schemeClr val="accent1">
                  <a:lumMod val="75000"/>
                </a:schemeClr>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accent1">
                  <a:lumMod val="75000"/>
                </a:schemeClr>
              </a:solidFill>
              <a:effectLst/>
              <a:latin typeface="Arial" panose="020B0604020202020204" pitchFamily="34" charset="0"/>
            </a:endParaRPr>
          </a:p>
        </p:txBody>
      </p:sp>
    </p:spTree>
    <p:extLst>
      <p:ext uri="{BB962C8B-B14F-4D97-AF65-F5344CB8AC3E}">
        <p14:creationId xmlns:p14="http://schemas.microsoft.com/office/powerpoint/2010/main" val="5334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84F44-4A60-CEEB-E55C-2BB387769B1D}"/>
              </a:ext>
            </a:extLst>
          </p:cNvPr>
          <p:cNvSpPr>
            <a:spLocks noGrp="1"/>
          </p:cNvSpPr>
          <p:nvPr>
            <p:ph type="title"/>
          </p:nvPr>
        </p:nvSpPr>
        <p:spPr/>
        <p:txBody>
          <a:bodyPr/>
          <a:lstStyle/>
          <a:p>
            <a:r>
              <a:rPr lang="en-IN" b="1" dirty="0">
                <a:solidFill>
                  <a:schemeClr val="accent1">
                    <a:lumMod val="60000"/>
                    <a:lumOff val="40000"/>
                  </a:schemeClr>
                </a:solidFill>
              </a:rPr>
              <a:t>Week 3:</a:t>
            </a:r>
          </a:p>
        </p:txBody>
      </p:sp>
      <p:sp>
        <p:nvSpPr>
          <p:cNvPr id="3" name="Content Placeholder 2">
            <a:extLst>
              <a:ext uri="{FF2B5EF4-FFF2-40B4-BE49-F238E27FC236}">
                <a16:creationId xmlns:a16="http://schemas.microsoft.com/office/drawing/2014/main" id="{43A2F952-2590-0861-B90F-8180804E904C}"/>
              </a:ext>
            </a:extLst>
          </p:cNvPr>
          <p:cNvSpPr>
            <a:spLocks noGrp="1"/>
          </p:cNvSpPr>
          <p:nvPr>
            <p:ph idx="1"/>
          </p:nvPr>
        </p:nvSpPr>
        <p:spPr/>
        <p:txBody>
          <a:bodyPr>
            <a:normAutofit lnSpcReduction="10000"/>
          </a:bodyPr>
          <a:lstStyle/>
          <a:p>
            <a:r>
              <a:rPr lang="en-US" sz="2000" dirty="0"/>
              <a:t>In Week 3, we focused on building and training the machine learning model using the preprocessed data. We worked on implementing the model and generating initial outputs. This marked the beginning of the core functionality of the system.</a:t>
            </a:r>
          </a:p>
          <a:p>
            <a:pPr marL="0" indent="0">
              <a:buNone/>
            </a:pPr>
            <a:endParaRPr lang="en-US" sz="2000" dirty="0"/>
          </a:p>
          <a:p>
            <a:pPr marL="0" indent="0">
              <a:buNone/>
            </a:pPr>
            <a:r>
              <a:rPr lang="en-IN" b="1" dirty="0">
                <a:solidFill>
                  <a:schemeClr val="accent1">
                    <a:lumMod val="60000"/>
                    <a:lumOff val="40000"/>
                  </a:schemeClr>
                </a:solidFill>
              </a:rPr>
              <a:t>Discussions in This Week:</a:t>
            </a:r>
          </a:p>
          <a:p>
            <a:r>
              <a:rPr lang="en-US" sz="2200" dirty="0"/>
              <a:t>Discussed how to build the model using processed data </a:t>
            </a:r>
          </a:p>
          <a:p>
            <a:r>
              <a:rPr lang="en-US" sz="2200" dirty="0"/>
              <a:t>Explored suitable algorithms for emotion detection </a:t>
            </a:r>
          </a:p>
          <a:p>
            <a:r>
              <a:rPr lang="en-US" sz="2200" dirty="0"/>
              <a:t>Reviewed initial outputs of the model </a:t>
            </a:r>
          </a:p>
          <a:p>
            <a:r>
              <a:rPr lang="en-US" sz="2200" dirty="0"/>
              <a:t>Discussed ways to improve accuracy </a:t>
            </a:r>
          </a:p>
          <a:p>
            <a:r>
              <a:rPr lang="en-US" sz="2200" dirty="0"/>
              <a:t>Planned next steps for integration </a:t>
            </a:r>
          </a:p>
          <a:p>
            <a:pPr marL="0" indent="0">
              <a:buNone/>
            </a:pPr>
            <a:endParaRPr lang="en-IN" dirty="0">
              <a:solidFill>
                <a:schemeClr val="accent1">
                  <a:lumMod val="75000"/>
                </a:schemeClr>
              </a:solidFill>
            </a:endParaRPr>
          </a:p>
        </p:txBody>
      </p:sp>
    </p:spTree>
    <p:extLst>
      <p:ext uri="{BB962C8B-B14F-4D97-AF65-F5344CB8AC3E}">
        <p14:creationId xmlns:p14="http://schemas.microsoft.com/office/powerpoint/2010/main" val="3027651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763D4-B942-397B-6AE8-D3CF8F60FEB3}"/>
              </a:ext>
            </a:extLst>
          </p:cNvPr>
          <p:cNvSpPr>
            <a:spLocks noGrp="1"/>
          </p:cNvSpPr>
          <p:nvPr>
            <p:ph type="title"/>
          </p:nvPr>
        </p:nvSpPr>
        <p:spPr/>
        <p:txBody>
          <a:bodyPr/>
          <a:lstStyle/>
          <a:p>
            <a:r>
              <a:rPr lang="en-IN" b="1" dirty="0">
                <a:solidFill>
                  <a:schemeClr val="accent1">
                    <a:lumMod val="60000"/>
                    <a:lumOff val="40000"/>
                  </a:schemeClr>
                </a:solidFill>
              </a:rPr>
              <a:t>Implementation</a:t>
            </a:r>
            <a:r>
              <a:rPr lang="en-IN" dirty="0">
                <a:solidFill>
                  <a:schemeClr val="accent1">
                    <a:lumMod val="75000"/>
                  </a:schemeClr>
                </a:solidFill>
              </a:rPr>
              <a:t>:</a:t>
            </a:r>
          </a:p>
        </p:txBody>
      </p:sp>
      <p:sp>
        <p:nvSpPr>
          <p:cNvPr id="4" name="Rectangle 1">
            <a:extLst>
              <a:ext uri="{FF2B5EF4-FFF2-40B4-BE49-F238E27FC236}">
                <a16:creationId xmlns:a16="http://schemas.microsoft.com/office/drawing/2014/main" id="{1F150B26-BCD0-8C97-D7FF-CAB7A7F954DD}"/>
              </a:ext>
            </a:extLst>
          </p:cNvPr>
          <p:cNvSpPr>
            <a:spLocks noGrp="1" noChangeArrowheads="1"/>
          </p:cNvSpPr>
          <p:nvPr>
            <p:ph idx="1"/>
          </p:nvPr>
        </p:nvSpPr>
        <p:spPr bwMode="auto">
          <a:xfrm>
            <a:off x="1194644" y="1441132"/>
            <a:ext cx="8428160"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Applied TF-IDF to convert text into numerical form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Built the machine learning model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Trained the model using dataset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Tested model with sample inputs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Generated initial predictions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b="1" dirty="0">
                <a:solidFill>
                  <a:schemeClr val="accent1">
                    <a:lumMod val="60000"/>
                    <a:lumOff val="40000"/>
                  </a:schemeClr>
                </a:solidFill>
                <a:latin typeface="Arial" panose="020B0604020202020204" pitchFamily="34" charset="0"/>
              </a:rPr>
              <a:t>Conclusion</a:t>
            </a:r>
            <a:r>
              <a:rPr lang="en-US" altLang="en-US" sz="2400" dirty="0">
                <a:solidFill>
                  <a:schemeClr val="accent1">
                    <a:lumMod val="75000"/>
                  </a:schemeClr>
                </a:solidFill>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solidFill>
                <a:schemeClr val="accent1">
                  <a:lumMod val="75000"/>
                </a:schemeClr>
              </a:solidFill>
              <a:latin typeface="Arial" panose="020B0604020202020204" pitchFamily="34" charset="0"/>
            </a:endParaRPr>
          </a:p>
          <a:p>
            <a:pPr mar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Model building completed</a:t>
            </a:r>
          </a:p>
          <a:p>
            <a:pPr mar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Initial training performed </a:t>
            </a:r>
          </a:p>
          <a:p>
            <a:pPr mar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Basic predictions generated </a:t>
            </a:r>
          </a:p>
          <a:p>
            <a:pPr mar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Ready for improvement and integration </a:t>
            </a:r>
          </a:p>
          <a:p>
            <a:pPr marL="0" indent="0" defTabSz="914400" eaLnBrk="0" fontAlgn="base" hangingPunct="0">
              <a:lnSpc>
                <a:spcPct val="100000"/>
              </a:lnSpc>
              <a:spcBef>
                <a:spcPct val="0"/>
              </a:spcBef>
              <a:spcAft>
                <a:spcPct val="0"/>
              </a:spcAft>
              <a:buClrTx/>
              <a:buSzTx/>
              <a:buFontTx/>
              <a:buChar char="•"/>
            </a:pPr>
            <a:endParaRPr lang="en-US" altLang="en-US" sz="2400" dirty="0">
              <a:latin typeface="Arial" panose="020B0604020202020204" pitchFamily="34" charset="0"/>
            </a:endParaRPr>
          </a:p>
          <a:p>
            <a:pPr marL="0" indent="0" defTabSz="914400" eaLnBrk="0" fontAlgn="base" hangingPunct="0">
              <a:lnSpc>
                <a:spcPct val="100000"/>
              </a:lnSpc>
              <a:spcBef>
                <a:spcPct val="0"/>
              </a:spcBef>
              <a:spcAft>
                <a:spcPct val="0"/>
              </a:spcAft>
              <a:buClrTx/>
              <a:buSzTx/>
              <a:buFontTx/>
              <a:buChar char="•"/>
            </a:pPr>
            <a:endParaRPr lang="en-US" altLang="en-US" sz="2400" dirty="0">
              <a:latin typeface="Arial" panose="020B0604020202020204" pitchFamily="34" charset="0"/>
            </a:endParaRPr>
          </a:p>
          <a:p>
            <a:pPr marL="0" indent="0" defTabSz="914400" eaLnBrk="0" fontAlgn="base" hangingPunct="0">
              <a:lnSpc>
                <a:spcPct val="100000"/>
              </a:lnSpc>
              <a:spcBef>
                <a:spcPct val="0"/>
              </a:spcBef>
              <a:spcAft>
                <a:spcPct val="0"/>
              </a:spcAft>
              <a:buClrTx/>
              <a:buSzTx/>
              <a:buFontTx/>
              <a:buChar char="•"/>
            </a:pPr>
            <a:r>
              <a:rPr lang="en-US" altLang="en-US" sz="2400"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1">
                  <a:lumMod val="75000"/>
                </a:schemeClr>
              </a:solidFill>
              <a:effectLst/>
              <a:latin typeface="Arial" panose="020B0604020202020204" pitchFamily="34" charset="0"/>
            </a:endParaRPr>
          </a:p>
        </p:txBody>
      </p:sp>
    </p:spTree>
    <p:extLst>
      <p:ext uri="{BB962C8B-B14F-4D97-AF65-F5344CB8AC3E}">
        <p14:creationId xmlns:p14="http://schemas.microsoft.com/office/powerpoint/2010/main" val="2935847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81094-1EE4-788B-D5CB-B4E5D78844B7}"/>
              </a:ext>
            </a:extLst>
          </p:cNvPr>
          <p:cNvSpPr>
            <a:spLocks noGrp="1"/>
          </p:cNvSpPr>
          <p:nvPr>
            <p:ph type="title"/>
          </p:nvPr>
        </p:nvSpPr>
        <p:spPr>
          <a:xfrm>
            <a:off x="1125860" y="836712"/>
            <a:ext cx="10360501" cy="1223963"/>
          </a:xfrm>
        </p:spPr>
        <p:txBody>
          <a:bodyPr>
            <a:normAutofit fontScale="90000"/>
          </a:bodyPr>
          <a:lstStyle/>
          <a:p>
            <a:br>
              <a:rPr lang="en-IN" dirty="0">
                <a:solidFill>
                  <a:schemeClr val="accent1">
                    <a:lumMod val="75000"/>
                  </a:schemeClr>
                </a:solidFill>
              </a:rPr>
            </a:br>
            <a:r>
              <a:rPr lang="en-IN" b="1" dirty="0">
                <a:solidFill>
                  <a:schemeClr val="accent1">
                    <a:lumMod val="60000"/>
                    <a:lumOff val="40000"/>
                  </a:schemeClr>
                </a:solidFill>
              </a:rPr>
              <a:t>Week 4: </a:t>
            </a:r>
            <a:br>
              <a:rPr lang="en-IN" dirty="0"/>
            </a:br>
            <a:r>
              <a:rPr lang="en-IN" sz="3100" b="1" dirty="0">
                <a:solidFill>
                  <a:schemeClr val="accent1">
                    <a:lumMod val="60000"/>
                    <a:lumOff val="40000"/>
                  </a:schemeClr>
                </a:solidFill>
              </a:rPr>
              <a:t>Overview</a:t>
            </a:r>
            <a:r>
              <a:rPr lang="en-IN" dirty="0"/>
              <a:t>:</a:t>
            </a:r>
            <a:r>
              <a:rPr lang="en-US" sz="2400" dirty="0"/>
              <a:t>Started backend development to build the core structure of the application.</a:t>
            </a:r>
            <a:endParaRPr lang="en-IN" sz="2200" dirty="0"/>
          </a:p>
        </p:txBody>
      </p:sp>
      <p:sp>
        <p:nvSpPr>
          <p:cNvPr id="3" name="Content Placeholder 2">
            <a:extLst>
              <a:ext uri="{FF2B5EF4-FFF2-40B4-BE49-F238E27FC236}">
                <a16:creationId xmlns:a16="http://schemas.microsoft.com/office/drawing/2014/main" id="{7657520E-160F-19BA-7C79-AC8D6F37CCD1}"/>
              </a:ext>
            </a:extLst>
          </p:cNvPr>
          <p:cNvSpPr>
            <a:spLocks noGrp="1"/>
          </p:cNvSpPr>
          <p:nvPr>
            <p:ph idx="1"/>
          </p:nvPr>
        </p:nvSpPr>
        <p:spPr>
          <a:xfrm>
            <a:off x="1125860" y="2780928"/>
            <a:ext cx="10360501" cy="4462272"/>
          </a:xfrm>
        </p:spPr>
        <p:txBody>
          <a:bodyPr/>
          <a:lstStyle/>
          <a:p>
            <a:r>
              <a:rPr lang="en-IN" b="1" dirty="0">
                <a:solidFill>
                  <a:schemeClr val="accent1">
                    <a:lumMod val="60000"/>
                    <a:lumOff val="40000"/>
                  </a:schemeClr>
                </a:solidFill>
              </a:rPr>
              <a:t>Discussions</a:t>
            </a:r>
            <a:r>
              <a:rPr lang="en-IN" dirty="0"/>
              <a:t>:</a:t>
            </a:r>
          </a:p>
          <a:p>
            <a:r>
              <a:rPr lang="en-IN" sz="2000" dirty="0"/>
              <a:t>Selected Flask</a:t>
            </a:r>
          </a:p>
          <a:p>
            <a:r>
              <a:rPr lang="en-US" altLang="en-US" sz="2000" dirty="0">
                <a:latin typeface="Arial" panose="020B0604020202020204" pitchFamily="34" charset="0"/>
              </a:rPr>
              <a:t>Planned ML model integration </a:t>
            </a:r>
          </a:p>
          <a:p>
            <a:r>
              <a:rPr lang="en-US" altLang="en-US" sz="2000" dirty="0">
                <a:latin typeface="Arial" panose="020B0604020202020204" pitchFamily="34" charset="0"/>
              </a:rPr>
              <a:t>Defined input → prediction flow </a:t>
            </a:r>
          </a:p>
          <a:p>
            <a:r>
              <a:rPr lang="en-US" altLang="en-US" sz="2000" dirty="0">
                <a:latin typeface="Arial" panose="020B0604020202020204" pitchFamily="34" charset="0"/>
              </a:rPr>
              <a:t>Decided routing structure </a:t>
            </a:r>
          </a:p>
          <a:p>
            <a:r>
              <a:rPr lang="en-US" altLang="en-US" sz="2000" dirty="0">
                <a:latin typeface="Arial" panose="020B0604020202020204" pitchFamily="34" charset="0"/>
              </a:rPr>
              <a:t>Identified required tools </a:t>
            </a: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sz="2000" dirty="0"/>
          </a:p>
          <a:p>
            <a:endParaRPr lang="en-US" sz="2000" dirty="0"/>
          </a:p>
          <a:p>
            <a:endParaRPr lang="en-IN" dirty="0"/>
          </a:p>
        </p:txBody>
      </p:sp>
      <p:sp>
        <p:nvSpPr>
          <p:cNvPr id="28" name="Rectangle 25">
            <a:extLst>
              <a:ext uri="{FF2B5EF4-FFF2-40B4-BE49-F238E27FC236}">
                <a16:creationId xmlns:a16="http://schemas.microsoft.com/office/drawing/2014/main" id="{267CBC5C-04A8-0644-C0B2-71DDA9FA03D4}"/>
              </a:ext>
            </a:extLst>
          </p:cNvPr>
          <p:cNvSpPr>
            <a:spLocks noChangeArrowheads="1"/>
          </p:cNvSpPr>
          <p:nvPr/>
        </p:nvSpPr>
        <p:spPr bwMode="auto">
          <a:xfrm>
            <a:off x="0" y="-323166"/>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9757CEA5-EFEB-AA62-4237-40CC235E1C6C}"/>
              </a:ext>
            </a:extLst>
          </p:cNvPr>
          <p:cNvSpPr>
            <a:spLocks noChangeArrowheads="1"/>
          </p:cNvSpPr>
          <p:nvPr/>
        </p:nvSpPr>
        <p:spPr bwMode="auto">
          <a:xfrm>
            <a:off x="477788" y="-201017"/>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6337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9BAB5-7977-FBD1-26BB-DFCA4F26CFDA}"/>
              </a:ext>
            </a:extLst>
          </p:cNvPr>
          <p:cNvSpPr>
            <a:spLocks noGrp="1"/>
          </p:cNvSpPr>
          <p:nvPr>
            <p:ph type="title"/>
          </p:nvPr>
        </p:nvSpPr>
        <p:spPr>
          <a:xfrm>
            <a:off x="1053852" y="188640"/>
            <a:ext cx="10360501" cy="3456383"/>
          </a:xfrm>
        </p:spPr>
        <p:txBody>
          <a:bodyPr>
            <a:normAutofit fontScale="90000"/>
          </a:bodyPr>
          <a:lstStyle/>
          <a:p>
            <a:pPr lvl="0" defTabSz="914400" eaLnBrk="0" fontAlgn="base" hangingPunct="0">
              <a:lnSpc>
                <a:spcPct val="100000"/>
              </a:lnSpc>
              <a:spcAft>
                <a:spcPct val="0"/>
              </a:spcAft>
            </a:pPr>
            <a:br>
              <a:rPr lang="en-IN" sz="2200" b="1" dirty="0">
                <a:solidFill>
                  <a:schemeClr val="accent1">
                    <a:lumMod val="60000"/>
                    <a:lumOff val="40000"/>
                  </a:schemeClr>
                </a:solidFill>
              </a:rPr>
            </a:br>
            <a:br>
              <a:rPr lang="en-IN" sz="2200" b="1" dirty="0">
                <a:solidFill>
                  <a:schemeClr val="accent1">
                    <a:lumMod val="60000"/>
                    <a:lumOff val="40000"/>
                  </a:schemeClr>
                </a:solidFill>
              </a:rPr>
            </a:br>
            <a:br>
              <a:rPr lang="en-IN" sz="2200" b="1" dirty="0">
                <a:solidFill>
                  <a:schemeClr val="accent1">
                    <a:lumMod val="60000"/>
                    <a:lumOff val="40000"/>
                  </a:schemeClr>
                </a:solidFill>
              </a:rPr>
            </a:br>
            <a:r>
              <a:rPr lang="en-IN" sz="3100" b="1" dirty="0">
                <a:solidFill>
                  <a:schemeClr val="accent1">
                    <a:lumMod val="60000"/>
                    <a:lumOff val="40000"/>
                  </a:schemeClr>
                </a:solidFill>
              </a:rPr>
              <a:t>Implementation</a:t>
            </a:r>
            <a:r>
              <a:rPr lang="en-IN" sz="2200" dirty="0"/>
              <a:t>:</a:t>
            </a:r>
            <a:br>
              <a:rPr lang="en-IN" sz="2200" dirty="0"/>
            </a:br>
            <a:r>
              <a:rPr lang="en-IN" sz="2200" dirty="0"/>
              <a:t> </a:t>
            </a:r>
            <a:r>
              <a:rPr lang="en-US" altLang="en-US" sz="2200" dirty="0">
                <a:latin typeface="Arial" panose="020B0604020202020204" pitchFamily="34" charset="0"/>
              </a:rPr>
              <a:t>Setup Flask structure </a:t>
            </a:r>
            <a:br>
              <a:rPr lang="en-US" altLang="en-US" sz="2200" dirty="0">
                <a:latin typeface="Arial" panose="020B0604020202020204" pitchFamily="34" charset="0"/>
              </a:rPr>
            </a:br>
            <a:r>
              <a:rPr lang="en-US" altLang="en-US" sz="2200" dirty="0">
                <a:latin typeface="Arial" panose="020B0604020202020204" pitchFamily="34" charset="0"/>
              </a:rPr>
              <a:t> Loaded model and vectorizer </a:t>
            </a:r>
            <a:br>
              <a:rPr lang="en-US" altLang="en-US" sz="2200" dirty="0">
                <a:latin typeface="Arial" panose="020B0604020202020204" pitchFamily="34" charset="0"/>
              </a:rPr>
            </a:br>
            <a:r>
              <a:rPr lang="en-US" altLang="en-US" sz="2200" dirty="0">
                <a:latin typeface="Arial" panose="020B0604020202020204" pitchFamily="34" charset="0"/>
              </a:rPr>
              <a:t> Added preprocessing logic </a:t>
            </a:r>
            <a:br>
              <a:rPr lang="en-US" altLang="en-US" sz="2200" dirty="0">
                <a:latin typeface="Arial" panose="020B0604020202020204" pitchFamily="34" charset="0"/>
              </a:rPr>
            </a:br>
            <a:r>
              <a:rPr lang="en-US" altLang="en-US" sz="2200" dirty="0">
                <a:latin typeface="Arial" panose="020B0604020202020204" pitchFamily="34" charset="0"/>
              </a:rPr>
              <a:t> Created routes: </a:t>
            </a:r>
            <a:r>
              <a:rPr lang="en-US" altLang="en-US" sz="2200" dirty="0">
                <a:latin typeface="Arial Unicode MS"/>
              </a:rPr>
              <a:t>/</a:t>
            </a:r>
            <a:r>
              <a:rPr lang="en-US" altLang="en-US" sz="2200" dirty="0"/>
              <a:t>, </a:t>
            </a:r>
            <a:r>
              <a:rPr lang="en-US" altLang="en-US" sz="2200" dirty="0">
                <a:latin typeface="Arial Unicode MS"/>
              </a:rPr>
              <a:t>/login</a:t>
            </a:r>
            <a:r>
              <a:rPr lang="en-US" altLang="en-US" sz="2200" dirty="0"/>
              <a:t>, </a:t>
            </a:r>
            <a:r>
              <a:rPr lang="en-US" altLang="en-US" sz="2200" dirty="0">
                <a:latin typeface="Arial Unicode MS"/>
              </a:rPr>
              <a:t>/register</a:t>
            </a:r>
            <a:r>
              <a:rPr lang="en-US" altLang="en-US" sz="2200" dirty="0"/>
              <a:t> </a:t>
            </a:r>
            <a:br>
              <a:rPr lang="en-US" altLang="en-US" sz="2200" dirty="0">
                <a:latin typeface="Arial" panose="020B0604020202020204" pitchFamily="34" charset="0"/>
              </a:rPr>
            </a:br>
            <a:r>
              <a:rPr lang="en-US" altLang="en-US" sz="2200" dirty="0">
                <a:latin typeface="Arial" panose="020B0604020202020204" pitchFamily="34" charset="0"/>
              </a:rPr>
              <a:t> Organized backend code </a:t>
            </a:r>
            <a:br>
              <a:rPr lang="en-US" sz="2200" dirty="0"/>
            </a:br>
            <a:br>
              <a:rPr lang="en-US" dirty="0"/>
            </a:br>
            <a:endParaRPr lang="en-IN" dirty="0"/>
          </a:p>
        </p:txBody>
      </p:sp>
      <p:sp>
        <p:nvSpPr>
          <p:cNvPr id="3" name="Content Placeholder 2">
            <a:extLst>
              <a:ext uri="{FF2B5EF4-FFF2-40B4-BE49-F238E27FC236}">
                <a16:creationId xmlns:a16="http://schemas.microsoft.com/office/drawing/2014/main" id="{8E1FF0F8-FF52-E1E5-47B7-469441A95F10}"/>
              </a:ext>
            </a:extLst>
          </p:cNvPr>
          <p:cNvSpPr>
            <a:spLocks noGrp="1"/>
          </p:cNvSpPr>
          <p:nvPr>
            <p:ph idx="1"/>
          </p:nvPr>
        </p:nvSpPr>
        <p:spPr>
          <a:xfrm>
            <a:off x="1218883" y="3356993"/>
            <a:ext cx="10360501" cy="2807076"/>
          </a:xfrm>
        </p:spPr>
        <p:txBody>
          <a:bodyPr anchor="t" anchorCtr="0"/>
          <a:lstStyle/>
          <a:p>
            <a:pPr marL="0" indent="0">
              <a:buNone/>
            </a:pPr>
            <a:r>
              <a:rPr lang="en-IN" b="1" dirty="0">
                <a:solidFill>
                  <a:schemeClr val="accent1">
                    <a:lumMod val="60000"/>
                    <a:lumOff val="40000"/>
                  </a:schemeClr>
                </a:solidFill>
              </a:rPr>
              <a:t>Conclusion</a:t>
            </a:r>
            <a:r>
              <a:rPr lang="en-IN" dirty="0"/>
              <a:t>:</a:t>
            </a:r>
          </a:p>
          <a:p>
            <a:r>
              <a:rPr lang="en-US" altLang="en-US" sz="2000" dirty="0">
                <a:latin typeface="Arial" panose="020B0604020202020204" pitchFamily="34" charset="0"/>
              </a:rPr>
              <a:t>Backend initialized </a:t>
            </a:r>
          </a:p>
          <a:p>
            <a:pPr defTabSz="914400" eaLnBrk="0" fontAlgn="base" hangingPunct="0">
              <a:lnSpc>
                <a:spcPct val="100000"/>
              </a:lnSpc>
              <a:spcBef>
                <a:spcPct val="0"/>
              </a:spcBef>
              <a:spcAft>
                <a:spcPct val="0"/>
              </a:spcAft>
              <a:buClrTx/>
              <a:buSzTx/>
            </a:pPr>
            <a:r>
              <a:rPr lang="en-US" altLang="en-US" sz="2000" dirty="0">
                <a:latin typeface="Arial" panose="020B0604020202020204" pitchFamily="34" charset="0"/>
              </a:rPr>
              <a:t>Basic routing ready </a:t>
            </a:r>
          </a:p>
          <a:p>
            <a:pPr defTabSz="914400" eaLnBrk="0" fontAlgn="base" hangingPunct="0">
              <a:lnSpc>
                <a:spcPct val="100000"/>
              </a:lnSpc>
              <a:spcBef>
                <a:spcPct val="0"/>
              </a:spcBef>
              <a:spcAft>
                <a:spcPct val="0"/>
              </a:spcAft>
              <a:buClrTx/>
              <a:buSzTx/>
            </a:pPr>
            <a:r>
              <a:rPr lang="en-US" altLang="en-US" sz="2000" dirty="0">
                <a:latin typeface="Arial" panose="020B0604020202020204" pitchFamily="34" charset="0"/>
              </a:rPr>
              <a:t>Model ready for integration </a:t>
            </a:r>
          </a:p>
          <a:p>
            <a:pPr defTabSz="914400" eaLnBrk="0" fontAlgn="base" hangingPunct="0">
              <a:lnSpc>
                <a:spcPct val="100000"/>
              </a:lnSpc>
              <a:spcBef>
                <a:spcPct val="0"/>
              </a:spcBef>
              <a:spcAft>
                <a:spcPct val="0"/>
              </a:spcAft>
              <a:buClrTx/>
              <a:buSzTx/>
            </a:pPr>
            <a:r>
              <a:rPr lang="en-US" altLang="en-US" sz="2000" dirty="0">
                <a:latin typeface="Arial" panose="020B0604020202020204" pitchFamily="34" charset="0"/>
              </a:rPr>
              <a:t>Structure prepared </a:t>
            </a:r>
          </a:p>
          <a:p>
            <a:pPr defTabSz="914400" eaLnBrk="0" fontAlgn="base" hangingPunct="0">
              <a:lnSpc>
                <a:spcPct val="100000"/>
              </a:lnSpc>
              <a:spcBef>
                <a:spcPct val="0"/>
              </a:spcBef>
              <a:spcAft>
                <a:spcPct val="0"/>
              </a:spcAft>
              <a:buClrTx/>
              <a:buSzTx/>
            </a:pPr>
            <a:r>
              <a:rPr lang="en-US" altLang="en-US" sz="2000" dirty="0">
                <a:latin typeface="Arial" panose="020B0604020202020204" pitchFamily="34" charset="0"/>
              </a:rPr>
              <a:t>Ready for next phase </a:t>
            </a:r>
          </a:p>
          <a:p>
            <a:pPr marL="0" indent="0">
              <a:buNone/>
            </a:pPr>
            <a:endParaRPr lang="en-US" altLang="en-US" dirty="0">
              <a:latin typeface="Arial" panose="020B0604020202020204" pitchFamily="34" charset="0"/>
            </a:endParaRPr>
          </a:p>
          <a:p>
            <a:pPr marL="0" indent="0">
              <a:buNone/>
            </a:pPr>
            <a:endParaRPr lang="en-IN" dirty="0"/>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IN" dirty="0"/>
          </a:p>
          <a:p>
            <a:endParaRPr lang="en-IN" dirty="0"/>
          </a:p>
        </p:txBody>
      </p:sp>
    </p:spTree>
    <p:extLst>
      <p:ext uri="{BB962C8B-B14F-4D97-AF65-F5344CB8AC3E}">
        <p14:creationId xmlns:p14="http://schemas.microsoft.com/office/powerpoint/2010/main" val="151909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04952-60CD-09FB-0712-E4988709AA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283F1-2F52-8AF9-73C2-7F4CDE07DFFB}"/>
              </a:ext>
            </a:extLst>
          </p:cNvPr>
          <p:cNvSpPr>
            <a:spLocks noGrp="1"/>
          </p:cNvSpPr>
          <p:nvPr>
            <p:ph type="title"/>
          </p:nvPr>
        </p:nvSpPr>
        <p:spPr>
          <a:xfrm>
            <a:off x="1125860" y="836712"/>
            <a:ext cx="10360501" cy="1223963"/>
          </a:xfrm>
        </p:spPr>
        <p:txBody>
          <a:bodyPr>
            <a:normAutofit fontScale="90000"/>
          </a:bodyPr>
          <a:lstStyle/>
          <a:p>
            <a:br>
              <a:rPr lang="en-IN" dirty="0">
                <a:solidFill>
                  <a:schemeClr val="accent1">
                    <a:lumMod val="75000"/>
                  </a:schemeClr>
                </a:solidFill>
              </a:rPr>
            </a:br>
            <a:r>
              <a:rPr lang="en-IN" b="1" dirty="0">
                <a:solidFill>
                  <a:schemeClr val="accent1">
                    <a:lumMod val="60000"/>
                    <a:lumOff val="40000"/>
                  </a:schemeClr>
                </a:solidFill>
              </a:rPr>
              <a:t>Week 5: </a:t>
            </a:r>
            <a:br>
              <a:rPr lang="en-IN" dirty="0"/>
            </a:br>
            <a:r>
              <a:rPr lang="en-IN" sz="3100" b="1" dirty="0">
                <a:solidFill>
                  <a:schemeClr val="accent1">
                    <a:lumMod val="60000"/>
                    <a:lumOff val="40000"/>
                  </a:schemeClr>
                </a:solidFill>
              </a:rPr>
              <a:t>Overview</a:t>
            </a:r>
            <a:r>
              <a:rPr lang="en-IN" dirty="0"/>
              <a:t>:</a:t>
            </a:r>
            <a:r>
              <a:rPr lang="en-US" sz="2400" dirty="0"/>
              <a:t>Focused on implementing database and user authentication to manage user data securely..</a:t>
            </a:r>
            <a:endParaRPr lang="en-IN" sz="2200" dirty="0"/>
          </a:p>
        </p:txBody>
      </p:sp>
      <p:sp>
        <p:nvSpPr>
          <p:cNvPr id="3" name="Content Placeholder 2">
            <a:extLst>
              <a:ext uri="{FF2B5EF4-FFF2-40B4-BE49-F238E27FC236}">
                <a16:creationId xmlns:a16="http://schemas.microsoft.com/office/drawing/2014/main" id="{5DCD8488-4F47-BC25-C489-4F2E8ACE6416}"/>
              </a:ext>
            </a:extLst>
          </p:cNvPr>
          <p:cNvSpPr>
            <a:spLocks noGrp="1"/>
          </p:cNvSpPr>
          <p:nvPr>
            <p:ph idx="1"/>
          </p:nvPr>
        </p:nvSpPr>
        <p:spPr>
          <a:xfrm>
            <a:off x="1140256" y="2395728"/>
            <a:ext cx="10360501" cy="4462272"/>
          </a:xfrm>
        </p:spPr>
        <p:txBody>
          <a:bodyPr/>
          <a:lstStyle/>
          <a:p>
            <a:pPr marL="0" indent="0">
              <a:buNone/>
            </a:pPr>
            <a:r>
              <a:rPr lang="en-IN" b="1" dirty="0">
                <a:solidFill>
                  <a:schemeClr val="accent1">
                    <a:lumMod val="60000"/>
                    <a:lumOff val="40000"/>
                  </a:schemeClr>
                </a:solidFill>
              </a:rPr>
              <a:t>Discussions</a:t>
            </a:r>
            <a:r>
              <a:rPr lang="en-IN" dirty="0"/>
              <a:t>:</a:t>
            </a:r>
          </a:p>
          <a:p>
            <a:pPr marL="0" indent="0">
              <a:buNone/>
            </a:pPr>
            <a:endParaRPr lang="en-IN" dirty="0"/>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Planned user data storage and security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Selected SQLite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Designed tables (users, mood history)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Decided login/register flow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Considered password security</a:t>
            </a:r>
            <a:r>
              <a:rPr lang="en-US" altLang="en-US" dirty="0">
                <a:latin typeface="Arial" panose="020B0604020202020204" pitchFamily="34" charset="0"/>
              </a:rPr>
              <a:t> </a:t>
            </a:r>
          </a:p>
          <a:p>
            <a:pPr marL="0" indent="0">
              <a:buNone/>
            </a:pPr>
            <a:endParaRPr lang="en-IN" dirty="0"/>
          </a:p>
          <a:p>
            <a:pPr>
              <a:lnSpc>
                <a:spcPct val="100000"/>
              </a:lnSpc>
            </a:pPr>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sz="2000" dirty="0"/>
          </a:p>
          <a:p>
            <a:endParaRPr lang="en-US" sz="2000" dirty="0"/>
          </a:p>
          <a:p>
            <a:endParaRPr lang="en-IN" dirty="0"/>
          </a:p>
        </p:txBody>
      </p:sp>
      <p:sp>
        <p:nvSpPr>
          <p:cNvPr id="28" name="Rectangle 25">
            <a:extLst>
              <a:ext uri="{FF2B5EF4-FFF2-40B4-BE49-F238E27FC236}">
                <a16:creationId xmlns:a16="http://schemas.microsoft.com/office/drawing/2014/main" id="{6444F596-F779-C801-5406-8C4AC63F12FC}"/>
              </a:ext>
            </a:extLst>
          </p:cNvPr>
          <p:cNvSpPr>
            <a:spLocks noChangeArrowheads="1"/>
          </p:cNvSpPr>
          <p:nvPr/>
        </p:nvSpPr>
        <p:spPr bwMode="auto">
          <a:xfrm>
            <a:off x="0" y="-323166"/>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E867A30D-576B-915D-022C-EF5F5C491BA1}"/>
              </a:ext>
            </a:extLst>
          </p:cNvPr>
          <p:cNvSpPr>
            <a:spLocks noChangeArrowheads="1"/>
          </p:cNvSpPr>
          <p:nvPr/>
        </p:nvSpPr>
        <p:spPr bwMode="auto">
          <a:xfrm>
            <a:off x="477788" y="-201017"/>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9294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D9C3F-375A-9497-E938-5CB9EE0B9F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ED2C2-943A-BDAD-8531-9B1C77889A57}"/>
              </a:ext>
            </a:extLst>
          </p:cNvPr>
          <p:cNvSpPr>
            <a:spLocks noGrp="1"/>
          </p:cNvSpPr>
          <p:nvPr>
            <p:ph type="title"/>
          </p:nvPr>
        </p:nvSpPr>
        <p:spPr>
          <a:xfrm>
            <a:off x="1053852" y="188640"/>
            <a:ext cx="10360501" cy="3456383"/>
          </a:xfrm>
        </p:spPr>
        <p:txBody>
          <a:bodyPr>
            <a:normAutofit fontScale="90000"/>
          </a:bodyPr>
          <a:lstStyle/>
          <a:p>
            <a:pPr lvl="0" defTabSz="914400" eaLnBrk="0" fontAlgn="base" hangingPunct="0">
              <a:lnSpc>
                <a:spcPct val="100000"/>
              </a:lnSpc>
              <a:spcAft>
                <a:spcPct val="0"/>
              </a:spcAft>
            </a:pPr>
            <a:br>
              <a:rPr lang="en-IN" sz="2200" b="1" dirty="0">
                <a:solidFill>
                  <a:schemeClr val="accent1">
                    <a:lumMod val="60000"/>
                    <a:lumOff val="40000"/>
                  </a:schemeClr>
                </a:solidFill>
              </a:rPr>
            </a:br>
            <a:r>
              <a:rPr lang="en-IN" sz="3100" b="1" dirty="0">
                <a:solidFill>
                  <a:schemeClr val="accent1">
                    <a:lumMod val="60000"/>
                    <a:lumOff val="40000"/>
                  </a:schemeClr>
                </a:solidFill>
              </a:rPr>
              <a:t>Implementation</a:t>
            </a:r>
            <a:r>
              <a:rPr lang="en-IN" sz="2200" dirty="0"/>
              <a:t>:</a:t>
            </a:r>
            <a:br>
              <a:rPr lang="en-IN" sz="2200" dirty="0"/>
            </a:br>
            <a:br>
              <a:rPr lang="en-IN" sz="2200" dirty="0"/>
            </a:br>
            <a:r>
              <a:rPr lang="en-IN" sz="2200" dirty="0"/>
              <a:t> </a:t>
            </a:r>
            <a:r>
              <a:rPr lang="en-US" altLang="en-US" sz="2400" dirty="0">
                <a:latin typeface="Arial" panose="020B0604020202020204" pitchFamily="34" charset="0"/>
              </a:rPr>
              <a:t>Created database and tables </a:t>
            </a:r>
            <a:br>
              <a:rPr lang="en-US" altLang="en-US" sz="2400" dirty="0">
                <a:latin typeface="Arial" panose="020B0604020202020204" pitchFamily="34" charset="0"/>
              </a:rPr>
            </a:br>
            <a:r>
              <a:rPr lang="en-US" altLang="en-US" sz="2400" dirty="0">
                <a:latin typeface="Arial" panose="020B0604020202020204" pitchFamily="34" charset="0"/>
              </a:rPr>
              <a:t> Implemented registration system </a:t>
            </a:r>
            <a:br>
              <a:rPr lang="en-US" altLang="en-US" sz="2400" dirty="0">
                <a:latin typeface="Arial" panose="020B0604020202020204" pitchFamily="34" charset="0"/>
              </a:rPr>
            </a:br>
            <a:r>
              <a:rPr lang="en-US" altLang="en-US" sz="2400" dirty="0">
                <a:latin typeface="Arial" panose="020B0604020202020204" pitchFamily="34" charset="0"/>
              </a:rPr>
              <a:t> Added login functionality </a:t>
            </a:r>
            <a:br>
              <a:rPr lang="en-US" altLang="en-US" sz="2400" dirty="0">
                <a:latin typeface="Arial" panose="020B0604020202020204" pitchFamily="34" charset="0"/>
              </a:rPr>
            </a:br>
            <a:r>
              <a:rPr lang="en-US" altLang="en-US" sz="2400" dirty="0">
                <a:latin typeface="Arial" panose="020B0604020202020204" pitchFamily="34" charset="0"/>
              </a:rPr>
              <a:t> Applied password hashing </a:t>
            </a:r>
            <a:br>
              <a:rPr lang="en-US" altLang="en-US" sz="2400" dirty="0">
                <a:latin typeface="Arial" panose="020B0604020202020204" pitchFamily="34" charset="0"/>
              </a:rPr>
            </a:br>
            <a:r>
              <a:rPr lang="en-US" altLang="en-US" sz="2400" dirty="0">
                <a:latin typeface="Arial" panose="020B0604020202020204" pitchFamily="34" charset="0"/>
              </a:rPr>
              <a:t> Managed user sessions </a:t>
            </a:r>
            <a:br>
              <a:rPr lang="en-US" altLang="en-US" sz="2400" dirty="0">
                <a:latin typeface="Arial" panose="020B0604020202020204" pitchFamily="34" charset="0"/>
              </a:rPr>
            </a:br>
            <a:br>
              <a:rPr lang="en-IN" sz="2200" dirty="0"/>
            </a:br>
            <a:r>
              <a:rPr lang="en-IN" sz="2200" dirty="0"/>
              <a:t> </a:t>
            </a:r>
            <a:br>
              <a:rPr lang="en-US" dirty="0"/>
            </a:br>
            <a:endParaRPr lang="en-IN" dirty="0"/>
          </a:p>
        </p:txBody>
      </p:sp>
      <p:sp>
        <p:nvSpPr>
          <p:cNvPr id="3" name="Content Placeholder 2">
            <a:extLst>
              <a:ext uri="{FF2B5EF4-FFF2-40B4-BE49-F238E27FC236}">
                <a16:creationId xmlns:a16="http://schemas.microsoft.com/office/drawing/2014/main" id="{35DB795A-297C-23E1-D8AB-03C6EE6CB4C4}"/>
              </a:ext>
            </a:extLst>
          </p:cNvPr>
          <p:cNvSpPr>
            <a:spLocks noGrp="1"/>
          </p:cNvSpPr>
          <p:nvPr>
            <p:ph idx="1"/>
          </p:nvPr>
        </p:nvSpPr>
        <p:spPr>
          <a:xfrm>
            <a:off x="1218883" y="3356993"/>
            <a:ext cx="10360501" cy="2807076"/>
          </a:xfrm>
        </p:spPr>
        <p:txBody>
          <a:bodyPr anchor="t" anchorCtr="0"/>
          <a:lstStyle/>
          <a:p>
            <a:pPr marL="0" indent="0">
              <a:buNone/>
            </a:pPr>
            <a:r>
              <a:rPr lang="en-IN" b="1" dirty="0">
                <a:solidFill>
                  <a:schemeClr val="accent1">
                    <a:lumMod val="60000"/>
                    <a:lumOff val="40000"/>
                  </a:schemeClr>
                </a:solidFill>
              </a:rPr>
              <a:t>Conclusion</a:t>
            </a:r>
            <a:r>
              <a:rPr lang="en-IN" dirty="0"/>
              <a:t>:</a:t>
            </a:r>
          </a:p>
          <a:p>
            <a:pPr defTabSz="914400" eaLnBrk="0" fontAlgn="base" hangingPunct="0">
              <a:lnSpc>
                <a:spcPct val="100000"/>
              </a:lnSpc>
              <a:spcBef>
                <a:spcPct val="0"/>
              </a:spcBef>
              <a:spcAft>
                <a:spcPct val="0"/>
              </a:spcAft>
              <a:buClrTx/>
              <a:buSzTx/>
            </a:pPr>
            <a:r>
              <a:rPr lang="en-US" altLang="en-US" sz="2000" dirty="0">
                <a:latin typeface="Arial" panose="020B0604020202020204" pitchFamily="34" charset="0"/>
              </a:rPr>
              <a:t>Database successfully integrated </a:t>
            </a:r>
          </a:p>
          <a:p>
            <a:pPr defTabSz="914400" eaLnBrk="0" fontAlgn="base" hangingPunct="0">
              <a:lnSpc>
                <a:spcPct val="100000"/>
              </a:lnSpc>
              <a:spcBef>
                <a:spcPct val="0"/>
              </a:spcBef>
              <a:spcAft>
                <a:spcPct val="0"/>
              </a:spcAft>
              <a:buClrTx/>
              <a:buSzTx/>
            </a:pPr>
            <a:r>
              <a:rPr lang="en-US" altLang="en-US" sz="2000" dirty="0">
                <a:latin typeface="Arial" panose="020B0604020202020204" pitchFamily="34" charset="0"/>
              </a:rPr>
              <a:t>Authentication system working </a:t>
            </a:r>
          </a:p>
          <a:p>
            <a:pPr defTabSz="914400" eaLnBrk="0" fontAlgn="base" hangingPunct="0">
              <a:lnSpc>
                <a:spcPct val="100000"/>
              </a:lnSpc>
              <a:spcBef>
                <a:spcPct val="0"/>
              </a:spcBef>
              <a:spcAft>
                <a:spcPct val="0"/>
              </a:spcAft>
              <a:buClrTx/>
              <a:buSzTx/>
            </a:pPr>
            <a:r>
              <a:rPr lang="en-US" altLang="en-US" sz="2000" dirty="0">
                <a:latin typeface="Arial" panose="020B0604020202020204" pitchFamily="34" charset="0"/>
              </a:rPr>
              <a:t>User data securely stored </a:t>
            </a:r>
          </a:p>
          <a:p>
            <a:pPr defTabSz="914400" eaLnBrk="0" fontAlgn="base" hangingPunct="0">
              <a:lnSpc>
                <a:spcPct val="100000"/>
              </a:lnSpc>
              <a:spcBef>
                <a:spcPct val="0"/>
              </a:spcBef>
              <a:spcAft>
                <a:spcPct val="0"/>
              </a:spcAft>
              <a:buClrTx/>
              <a:buSzTx/>
            </a:pPr>
            <a:r>
              <a:rPr lang="en-US" altLang="en-US" sz="2000" dirty="0">
                <a:latin typeface="Arial" panose="020B0604020202020204" pitchFamily="34" charset="0"/>
              </a:rPr>
              <a:t>Backend strengthened </a:t>
            </a:r>
          </a:p>
          <a:p>
            <a:pPr defTabSz="914400" eaLnBrk="0" fontAlgn="base" hangingPunct="0">
              <a:lnSpc>
                <a:spcPct val="100000"/>
              </a:lnSpc>
              <a:spcBef>
                <a:spcPct val="0"/>
              </a:spcBef>
              <a:spcAft>
                <a:spcPct val="0"/>
              </a:spcAft>
              <a:buClrTx/>
              <a:buSzTx/>
            </a:pPr>
            <a:r>
              <a:rPr lang="en-US" altLang="en-US" sz="2000" dirty="0">
                <a:latin typeface="Arial" panose="020B0604020202020204" pitchFamily="34" charset="0"/>
              </a:rPr>
              <a:t>Ready for frontend integration </a:t>
            </a:r>
          </a:p>
          <a:p>
            <a:pPr marL="0" indent="0">
              <a:buNone/>
            </a:pPr>
            <a:endParaRPr lang="en-IN" dirty="0"/>
          </a:p>
          <a:p>
            <a:pPr marL="0" indent="0">
              <a:buNone/>
            </a:pPr>
            <a:endParaRPr lang="en-US" altLang="en-US" dirty="0">
              <a:latin typeface="Arial" panose="020B0604020202020204" pitchFamily="34" charset="0"/>
            </a:endParaRPr>
          </a:p>
          <a:p>
            <a:pPr marL="0" indent="0">
              <a:buNone/>
            </a:pPr>
            <a:endParaRPr lang="en-IN" dirty="0"/>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IN" dirty="0"/>
          </a:p>
          <a:p>
            <a:endParaRPr lang="en-IN" dirty="0"/>
          </a:p>
        </p:txBody>
      </p:sp>
      <p:pic>
        <p:nvPicPr>
          <p:cNvPr id="7" name="Picture 6">
            <a:extLst>
              <a:ext uri="{FF2B5EF4-FFF2-40B4-BE49-F238E27FC236}">
                <a16:creationId xmlns:a16="http://schemas.microsoft.com/office/drawing/2014/main" id="{224AE643-350F-5343-FB8D-3317C3ABA6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340" y="188640"/>
            <a:ext cx="6742484" cy="6669359"/>
          </a:xfrm>
          <a:prstGeom prst="rect">
            <a:avLst/>
          </a:prstGeom>
        </p:spPr>
      </p:pic>
    </p:spTree>
    <p:extLst>
      <p:ext uri="{BB962C8B-B14F-4D97-AF65-F5344CB8AC3E}">
        <p14:creationId xmlns:p14="http://schemas.microsoft.com/office/powerpoint/2010/main" val="2591124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E5C30-3B06-0316-E944-BE19F164A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60EB3-1664-6961-1096-DD275E80B046}"/>
              </a:ext>
            </a:extLst>
          </p:cNvPr>
          <p:cNvSpPr>
            <a:spLocks noGrp="1"/>
          </p:cNvSpPr>
          <p:nvPr>
            <p:ph type="title"/>
          </p:nvPr>
        </p:nvSpPr>
        <p:spPr>
          <a:xfrm>
            <a:off x="1125860" y="836712"/>
            <a:ext cx="10360501" cy="1223963"/>
          </a:xfrm>
        </p:spPr>
        <p:txBody>
          <a:bodyPr>
            <a:normAutofit fontScale="90000"/>
          </a:bodyPr>
          <a:lstStyle/>
          <a:p>
            <a:br>
              <a:rPr lang="en-IN" dirty="0">
                <a:solidFill>
                  <a:schemeClr val="accent1">
                    <a:lumMod val="75000"/>
                  </a:schemeClr>
                </a:solidFill>
              </a:rPr>
            </a:br>
            <a:r>
              <a:rPr lang="en-IN" b="1" dirty="0">
                <a:solidFill>
                  <a:schemeClr val="accent1">
                    <a:lumMod val="60000"/>
                    <a:lumOff val="40000"/>
                  </a:schemeClr>
                </a:solidFill>
              </a:rPr>
              <a:t>Week 6: </a:t>
            </a:r>
            <a:br>
              <a:rPr lang="en-IN" dirty="0"/>
            </a:br>
            <a:r>
              <a:rPr lang="en-IN" sz="3100" b="1" dirty="0">
                <a:solidFill>
                  <a:schemeClr val="accent1">
                    <a:lumMod val="60000"/>
                    <a:lumOff val="40000"/>
                  </a:schemeClr>
                </a:solidFill>
              </a:rPr>
              <a:t>Overview</a:t>
            </a:r>
            <a:r>
              <a:rPr lang="en-IN" dirty="0"/>
              <a:t>:</a:t>
            </a:r>
            <a:r>
              <a:rPr lang="en-US" sz="2400" dirty="0"/>
              <a:t>Focused on developing the user interface and connecting it with the backend.</a:t>
            </a:r>
            <a:endParaRPr lang="en-IN" sz="2200" dirty="0"/>
          </a:p>
        </p:txBody>
      </p:sp>
      <p:sp>
        <p:nvSpPr>
          <p:cNvPr id="3" name="Content Placeholder 2">
            <a:extLst>
              <a:ext uri="{FF2B5EF4-FFF2-40B4-BE49-F238E27FC236}">
                <a16:creationId xmlns:a16="http://schemas.microsoft.com/office/drawing/2014/main" id="{D3B22BA4-E529-F827-96A2-B2FF17170438}"/>
              </a:ext>
            </a:extLst>
          </p:cNvPr>
          <p:cNvSpPr>
            <a:spLocks noGrp="1"/>
          </p:cNvSpPr>
          <p:nvPr>
            <p:ph idx="1"/>
          </p:nvPr>
        </p:nvSpPr>
        <p:spPr>
          <a:xfrm>
            <a:off x="1140256" y="2395728"/>
            <a:ext cx="10360501" cy="4462272"/>
          </a:xfrm>
        </p:spPr>
        <p:txBody>
          <a:bodyPr/>
          <a:lstStyle/>
          <a:p>
            <a:pPr marL="0" indent="0">
              <a:buNone/>
            </a:pPr>
            <a:r>
              <a:rPr lang="en-IN" b="1" dirty="0">
                <a:solidFill>
                  <a:schemeClr val="accent1">
                    <a:lumMod val="60000"/>
                    <a:lumOff val="40000"/>
                  </a:schemeClr>
                </a:solidFill>
              </a:rPr>
              <a:t>Discussions</a:t>
            </a:r>
            <a:r>
              <a:rPr lang="en-IN" dirty="0"/>
              <a:t>:</a:t>
            </a:r>
          </a:p>
          <a:p>
            <a:pPr marL="0" indent="0">
              <a:buNone/>
            </a:pPr>
            <a:endParaRPr lang="en-IN" dirty="0"/>
          </a:p>
          <a:p>
            <a:r>
              <a:rPr lang="en-US" sz="2000" dirty="0"/>
              <a:t>Planned user interface design and navigation </a:t>
            </a:r>
          </a:p>
          <a:p>
            <a:r>
              <a:rPr lang="en-US" sz="2000" dirty="0"/>
              <a:t>Decided required pages (home, login, register, dashboard) </a:t>
            </a:r>
          </a:p>
          <a:p>
            <a:r>
              <a:rPr lang="en-US" sz="2000" dirty="0"/>
              <a:t>Defined form handling between frontend and backend </a:t>
            </a:r>
          </a:p>
          <a:p>
            <a:r>
              <a:rPr lang="en-US" sz="2000" dirty="0"/>
              <a:t>Focused on user-friendly design </a:t>
            </a:r>
          </a:p>
          <a:p>
            <a:r>
              <a:rPr lang="en-US" sz="2000" dirty="0"/>
              <a:t>Planned integration with backend routes </a:t>
            </a:r>
          </a:p>
          <a:p>
            <a:pPr marL="0" indent="0">
              <a:buNone/>
            </a:pPr>
            <a:endParaRPr lang="en-IN" dirty="0"/>
          </a:p>
          <a:p>
            <a:pPr>
              <a:lnSpc>
                <a:spcPct val="100000"/>
              </a:lnSpc>
            </a:pPr>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sz="2000" dirty="0"/>
          </a:p>
          <a:p>
            <a:endParaRPr lang="en-US" sz="2000" dirty="0"/>
          </a:p>
          <a:p>
            <a:endParaRPr lang="en-IN" dirty="0"/>
          </a:p>
        </p:txBody>
      </p:sp>
      <p:sp>
        <p:nvSpPr>
          <p:cNvPr id="28" name="Rectangle 25">
            <a:extLst>
              <a:ext uri="{FF2B5EF4-FFF2-40B4-BE49-F238E27FC236}">
                <a16:creationId xmlns:a16="http://schemas.microsoft.com/office/drawing/2014/main" id="{BFFE29F1-6A51-0A76-EA36-A1322865EEFB}"/>
              </a:ext>
            </a:extLst>
          </p:cNvPr>
          <p:cNvSpPr>
            <a:spLocks noChangeArrowheads="1"/>
          </p:cNvSpPr>
          <p:nvPr/>
        </p:nvSpPr>
        <p:spPr bwMode="auto">
          <a:xfrm>
            <a:off x="0" y="-323166"/>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952DBF9F-AAE8-9C98-3B26-39A3FC287B15}"/>
              </a:ext>
            </a:extLst>
          </p:cNvPr>
          <p:cNvSpPr>
            <a:spLocks noChangeArrowheads="1"/>
          </p:cNvSpPr>
          <p:nvPr/>
        </p:nvSpPr>
        <p:spPr bwMode="auto">
          <a:xfrm>
            <a:off x="477788" y="-201017"/>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85304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CA184-9154-238E-75A0-EC5D62D075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26FC9E-4C7C-CD81-1674-2A7A7409918F}"/>
              </a:ext>
            </a:extLst>
          </p:cNvPr>
          <p:cNvSpPr>
            <a:spLocks noGrp="1"/>
          </p:cNvSpPr>
          <p:nvPr>
            <p:ph idx="1"/>
          </p:nvPr>
        </p:nvSpPr>
        <p:spPr>
          <a:xfrm>
            <a:off x="914161" y="4028828"/>
            <a:ext cx="10360501" cy="2807076"/>
          </a:xfrm>
        </p:spPr>
        <p:txBody>
          <a:bodyPr anchor="t" anchorCtr="0"/>
          <a:lstStyle/>
          <a:p>
            <a:pPr marL="0" indent="0">
              <a:buNone/>
            </a:pPr>
            <a:r>
              <a:rPr lang="en-IN" b="1" dirty="0">
                <a:solidFill>
                  <a:schemeClr val="accent1">
                    <a:lumMod val="60000"/>
                    <a:lumOff val="40000"/>
                  </a:schemeClr>
                </a:solidFill>
              </a:rPr>
              <a:t>Conclusion</a:t>
            </a:r>
            <a:r>
              <a:rPr lang="en-IN" dirty="0"/>
              <a:t>:</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Frontend successfully developed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Templates integrated with backend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User interaction enabled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System became interactive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Ready for model integration </a:t>
            </a:r>
          </a:p>
          <a:p>
            <a:pPr marL="0" indent="0">
              <a:buNone/>
            </a:pPr>
            <a:endParaRPr lang="en-IN" dirty="0"/>
          </a:p>
          <a:p>
            <a:pPr marL="0" indent="0">
              <a:buNone/>
            </a:pPr>
            <a:endParaRPr lang="en-IN" dirty="0"/>
          </a:p>
          <a:p>
            <a:pPr marL="0" indent="0">
              <a:buNone/>
            </a:pPr>
            <a:endParaRPr lang="en-US" altLang="en-US" dirty="0">
              <a:latin typeface="Arial" panose="020B0604020202020204" pitchFamily="34" charset="0"/>
            </a:endParaRPr>
          </a:p>
          <a:p>
            <a:pPr marL="0" indent="0">
              <a:buNone/>
            </a:pPr>
            <a:endParaRPr lang="en-IN" dirty="0"/>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IN" dirty="0"/>
          </a:p>
          <a:p>
            <a:endParaRPr lang="en-IN" dirty="0"/>
          </a:p>
        </p:txBody>
      </p:sp>
      <p:sp>
        <p:nvSpPr>
          <p:cNvPr id="4" name="TextBox 3">
            <a:extLst>
              <a:ext uri="{FF2B5EF4-FFF2-40B4-BE49-F238E27FC236}">
                <a16:creationId xmlns:a16="http://schemas.microsoft.com/office/drawing/2014/main" id="{A9760BFC-3029-F714-3619-096B52EC9E1B}"/>
              </a:ext>
            </a:extLst>
          </p:cNvPr>
          <p:cNvSpPr txBox="1"/>
          <p:nvPr/>
        </p:nvSpPr>
        <p:spPr>
          <a:xfrm>
            <a:off x="914160" y="692696"/>
            <a:ext cx="10360501" cy="2923877"/>
          </a:xfrm>
          <a:prstGeom prst="rect">
            <a:avLst/>
          </a:prstGeom>
          <a:noFill/>
        </p:spPr>
        <p:txBody>
          <a:bodyPr wrap="square" rtlCol="0">
            <a:spAutoFit/>
          </a:bodyPr>
          <a:lstStyle/>
          <a:p>
            <a:r>
              <a:rPr lang="en-IN" sz="2800" b="1" dirty="0">
                <a:solidFill>
                  <a:schemeClr val="accent1">
                    <a:lumMod val="40000"/>
                    <a:lumOff val="60000"/>
                  </a:schemeClr>
                </a:solidFill>
              </a:rPr>
              <a:t>Implementation:</a:t>
            </a:r>
          </a:p>
          <a:p>
            <a:endParaRPr lang="en-IN" sz="2800" b="1" dirty="0">
              <a:solidFill>
                <a:schemeClr val="accent1">
                  <a:lumMod val="40000"/>
                  <a:lumOff val="60000"/>
                </a:schemeClr>
              </a:solidFill>
            </a:endParaRP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Created HTML templates (home, login, register, dashboard) </a:t>
            </a: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Designed forms for user input </a:t>
            </a: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Connected templates with Flask routes </a:t>
            </a: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Implemented data flow from frontend to backend </a:t>
            </a: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Tested basic frontend-backend interaction</a:t>
            </a:r>
            <a:endParaRPr lang="en-IN" sz="2000" b="1" dirty="0">
              <a:solidFill>
                <a:schemeClr val="accent1">
                  <a:lumMod val="40000"/>
                  <a:lumOff val="60000"/>
                </a:schemeClr>
              </a:solidFill>
            </a:endParaRPr>
          </a:p>
          <a:p>
            <a:endParaRPr lang="en-IN" sz="2800" b="1" dirty="0">
              <a:solidFill>
                <a:schemeClr val="accent1">
                  <a:lumMod val="40000"/>
                  <a:lumOff val="60000"/>
                </a:schemeClr>
              </a:solidFill>
            </a:endParaRPr>
          </a:p>
        </p:txBody>
      </p:sp>
      <p:sp>
        <p:nvSpPr>
          <p:cNvPr id="5" name="Rectangle 1">
            <a:extLst>
              <a:ext uri="{FF2B5EF4-FFF2-40B4-BE49-F238E27FC236}">
                <a16:creationId xmlns:a16="http://schemas.microsoft.com/office/drawing/2014/main" id="{A6F0DB94-03F4-C43C-3B84-89C1A5D4E857}"/>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3130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6190B-64FA-E907-6E82-FCB4F2AFBFE3}"/>
              </a:ext>
            </a:extLst>
          </p:cNvPr>
          <p:cNvSpPr>
            <a:spLocks noGrp="1"/>
          </p:cNvSpPr>
          <p:nvPr>
            <p:ph type="title"/>
          </p:nvPr>
        </p:nvSpPr>
        <p:spPr/>
        <p:txBody>
          <a:bodyPr/>
          <a:lstStyle/>
          <a:p>
            <a:r>
              <a:rPr lang="en-IN" b="1" dirty="0">
                <a:solidFill>
                  <a:schemeClr val="accent1">
                    <a:lumMod val="40000"/>
                    <a:lumOff val="60000"/>
                  </a:schemeClr>
                </a:solidFill>
              </a:rPr>
              <a:t>Register Page:</a:t>
            </a:r>
          </a:p>
        </p:txBody>
      </p:sp>
      <p:pic>
        <p:nvPicPr>
          <p:cNvPr id="9" name="Content Placeholder 8">
            <a:extLst>
              <a:ext uri="{FF2B5EF4-FFF2-40B4-BE49-F238E27FC236}">
                <a16:creationId xmlns:a16="http://schemas.microsoft.com/office/drawing/2014/main" id="{BC7A33B0-B250-79B7-F73D-D13AFF4198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5860" y="1701800"/>
            <a:ext cx="8875747" cy="4881563"/>
          </a:xfrm>
          <a:prstGeom prst="rect">
            <a:avLst/>
          </a:prstGeom>
        </p:spPr>
      </p:pic>
    </p:spTree>
    <p:extLst>
      <p:ext uri="{BB962C8B-B14F-4D97-AF65-F5344CB8AC3E}">
        <p14:creationId xmlns:p14="http://schemas.microsoft.com/office/powerpoint/2010/main" val="4270608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4A6B8-46AA-D742-229D-815C4488B7F6}"/>
              </a:ext>
            </a:extLst>
          </p:cNvPr>
          <p:cNvSpPr>
            <a:spLocks noGrp="1"/>
          </p:cNvSpPr>
          <p:nvPr>
            <p:ph type="title"/>
          </p:nvPr>
        </p:nvSpPr>
        <p:spPr/>
        <p:txBody>
          <a:bodyPr/>
          <a:lstStyle/>
          <a:p>
            <a:r>
              <a:rPr lang="en-IN" b="1" dirty="0">
                <a:solidFill>
                  <a:schemeClr val="accent1">
                    <a:lumMod val="40000"/>
                    <a:lumOff val="60000"/>
                  </a:schemeClr>
                </a:solidFill>
              </a:rPr>
              <a:t>Login Page:</a:t>
            </a:r>
          </a:p>
        </p:txBody>
      </p:sp>
      <p:pic>
        <p:nvPicPr>
          <p:cNvPr id="5" name="Content Placeholder 4">
            <a:extLst>
              <a:ext uri="{FF2B5EF4-FFF2-40B4-BE49-F238E27FC236}">
                <a16:creationId xmlns:a16="http://schemas.microsoft.com/office/drawing/2014/main" id="{4E00D34B-7D71-4680-D4D7-E8F5CEAC87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3963" y="1701800"/>
            <a:ext cx="8390499" cy="4462463"/>
          </a:xfrm>
          <a:prstGeom prst="rect">
            <a:avLst/>
          </a:prstGeom>
        </p:spPr>
      </p:pic>
    </p:spTree>
    <p:extLst>
      <p:ext uri="{BB962C8B-B14F-4D97-AF65-F5344CB8AC3E}">
        <p14:creationId xmlns:p14="http://schemas.microsoft.com/office/powerpoint/2010/main" val="502277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5DDD6-1D7A-A459-A2CB-E52A4D8FD267}"/>
              </a:ext>
            </a:extLst>
          </p:cNvPr>
          <p:cNvSpPr>
            <a:spLocks noGrp="1"/>
          </p:cNvSpPr>
          <p:nvPr>
            <p:ph type="title"/>
          </p:nvPr>
        </p:nvSpPr>
        <p:spPr/>
        <p:txBody>
          <a:bodyPr/>
          <a:lstStyle/>
          <a:p>
            <a:r>
              <a:rPr lang="en-IN" b="1" dirty="0">
                <a:solidFill>
                  <a:schemeClr val="accent1">
                    <a:lumMod val="40000"/>
                    <a:lumOff val="60000"/>
                  </a:schemeClr>
                </a:solidFill>
              </a:rPr>
              <a:t>Home Page:</a:t>
            </a:r>
          </a:p>
        </p:txBody>
      </p:sp>
      <p:pic>
        <p:nvPicPr>
          <p:cNvPr id="5" name="Content Placeholder 4">
            <a:extLst>
              <a:ext uri="{FF2B5EF4-FFF2-40B4-BE49-F238E27FC236}">
                <a16:creationId xmlns:a16="http://schemas.microsoft.com/office/drawing/2014/main" id="{CBF3CFF0-787E-1D00-9E70-A2279BA24B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3892" y="1772816"/>
            <a:ext cx="8950660" cy="4462463"/>
          </a:xfrm>
          <a:prstGeom prst="rect">
            <a:avLst/>
          </a:prstGeom>
        </p:spPr>
      </p:pic>
    </p:spTree>
    <p:extLst>
      <p:ext uri="{BB962C8B-B14F-4D97-AF65-F5344CB8AC3E}">
        <p14:creationId xmlns:p14="http://schemas.microsoft.com/office/powerpoint/2010/main" val="194966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78AD9-B90F-962D-9656-9AF6C4726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0B95F-1C2D-8F3F-06AD-11FA03490DA8}"/>
              </a:ext>
            </a:extLst>
          </p:cNvPr>
          <p:cNvSpPr>
            <a:spLocks noGrp="1"/>
          </p:cNvSpPr>
          <p:nvPr>
            <p:ph type="title"/>
          </p:nvPr>
        </p:nvSpPr>
        <p:spPr>
          <a:xfrm>
            <a:off x="1125860" y="836712"/>
            <a:ext cx="10360501" cy="1223963"/>
          </a:xfrm>
        </p:spPr>
        <p:txBody>
          <a:bodyPr>
            <a:normAutofit fontScale="90000"/>
          </a:bodyPr>
          <a:lstStyle/>
          <a:p>
            <a:br>
              <a:rPr lang="en-IN" dirty="0">
                <a:solidFill>
                  <a:schemeClr val="accent1">
                    <a:lumMod val="75000"/>
                  </a:schemeClr>
                </a:solidFill>
              </a:rPr>
            </a:br>
            <a:r>
              <a:rPr lang="en-IN" b="1" dirty="0">
                <a:solidFill>
                  <a:schemeClr val="accent1">
                    <a:lumMod val="60000"/>
                    <a:lumOff val="40000"/>
                  </a:schemeClr>
                </a:solidFill>
              </a:rPr>
              <a:t>Week 7: </a:t>
            </a:r>
            <a:br>
              <a:rPr lang="en-IN" dirty="0"/>
            </a:br>
            <a:r>
              <a:rPr lang="en-IN" sz="3100" b="1" dirty="0">
                <a:solidFill>
                  <a:schemeClr val="accent1">
                    <a:lumMod val="60000"/>
                    <a:lumOff val="40000"/>
                  </a:schemeClr>
                </a:solidFill>
              </a:rPr>
              <a:t>Overview</a:t>
            </a:r>
            <a:r>
              <a:rPr lang="en-IN" dirty="0"/>
              <a:t>:</a:t>
            </a:r>
            <a:r>
              <a:rPr lang="en-US" sz="2400" dirty="0"/>
              <a:t>Integrated the trained ML model with the backend to enable emotion detection.</a:t>
            </a:r>
            <a:br>
              <a:rPr lang="en-US" sz="2400" dirty="0"/>
            </a:br>
            <a:endParaRPr lang="en-IN" sz="2200" dirty="0"/>
          </a:p>
        </p:txBody>
      </p:sp>
      <p:sp>
        <p:nvSpPr>
          <p:cNvPr id="3" name="Content Placeholder 2">
            <a:extLst>
              <a:ext uri="{FF2B5EF4-FFF2-40B4-BE49-F238E27FC236}">
                <a16:creationId xmlns:a16="http://schemas.microsoft.com/office/drawing/2014/main" id="{51520276-34B7-F85A-A4C7-94C12502273A}"/>
              </a:ext>
            </a:extLst>
          </p:cNvPr>
          <p:cNvSpPr>
            <a:spLocks noGrp="1"/>
          </p:cNvSpPr>
          <p:nvPr>
            <p:ph idx="1"/>
          </p:nvPr>
        </p:nvSpPr>
        <p:spPr>
          <a:xfrm>
            <a:off x="1140256" y="2395728"/>
            <a:ext cx="10360501" cy="4462272"/>
          </a:xfrm>
        </p:spPr>
        <p:txBody>
          <a:bodyPr/>
          <a:lstStyle/>
          <a:p>
            <a:pPr marL="0" indent="0">
              <a:buNone/>
            </a:pPr>
            <a:r>
              <a:rPr lang="en-IN" b="1" dirty="0">
                <a:solidFill>
                  <a:schemeClr val="accent1">
                    <a:lumMod val="60000"/>
                    <a:lumOff val="40000"/>
                  </a:schemeClr>
                </a:solidFill>
              </a:rPr>
              <a:t>Discussions</a:t>
            </a:r>
            <a:r>
              <a:rPr lang="en-IN" dirty="0"/>
              <a:t>:</a:t>
            </a:r>
          </a:p>
          <a:p>
            <a:pPr marL="0" indent="0">
              <a:buNone/>
            </a:pPr>
            <a:endParaRPr lang="en-IN" dirty="0"/>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Planned connection between user input and ML model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Defined preprocessing and prediction flow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Considered handling invalid or empty input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Decided fallback mechanism for reliability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Planned output format </a:t>
            </a:r>
            <a:endParaRPr lang="en-US" altLang="en-US" dirty="0">
              <a:latin typeface="Arial" panose="020B0604020202020204" pitchFamily="34" charset="0"/>
            </a:endParaRPr>
          </a:p>
          <a:p>
            <a:pPr marL="0" indent="0">
              <a:buNone/>
            </a:pPr>
            <a:endParaRPr lang="en-IN" dirty="0"/>
          </a:p>
          <a:p>
            <a:pPr marL="0" indent="0">
              <a:buNone/>
            </a:pPr>
            <a:endParaRPr lang="en-IN" dirty="0"/>
          </a:p>
          <a:p>
            <a:pPr>
              <a:lnSpc>
                <a:spcPct val="100000"/>
              </a:lnSpc>
            </a:pPr>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sz="2000" dirty="0"/>
          </a:p>
          <a:p>
            <a:endParaRPr lang="en-US" sz="2000" dirty="0"/>
          </a:p>
          <a:p>
            <a:endParaRPr lang="en-IN" dirty="0"/>
          </a:p>
        </p:txBody>
      </p:sp>
      <p:sp>
        <p:nvSpPr>
          <p:cNvPr id="28" name="Rectangle 25">
            <a:extLst>
              <a:ext uri="{FF2B5EF4-FFF2-40B4-BE49-F238E27FC236}">
                <a16:creationId xmlns:a16="http://schemas.microsoft.com/office/drawing/2014/main" id="{95A3594D-7A1E-1CF8-940C-580E3EBAA4B6}"/>
              </a:ext>
            </a:extLst>
          </p:cNvPr>
          <p:cNvSpPr>
            <a:spLocks noChangeArrowheads="1"/>
          </p:cNvSpPr>
          <p:nvPr/>
        </p:nvSpPr>
        <p:spPr bwMode="auto">
          <a:xfrm>
            <a:off x="0" y="-323166"/>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80671800-077D-55DF-C5AB-C947A422AA1D}"/>
              </a:ext>
            </a:extLst>
          </p:cNvPr>
          <p:cNvSpPr>
            <a:spLocks noChangeArrowheads="1"/>
          </p:cNvSpPr>
          <p:nvPr/>
        </p:nvSpPr>
        <p:spPr bwMode="auto">
          <a:xfrm>
            <a:off x="477788" y="-201017"/>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979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ED01B-B08E-7F7F-D4B0-F9D900ECD6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FF4EBC-6CDD-7539-47F3-FFC0995E4D5C}"/>
              </a:ext>
            </a:extLst>
          </p:cNvPr>
          <p:cNvSpPr>
            <a:spLocks noGrp="1"/>
          </p:cNvSpPr>
          <p:nvPr>
            <p:ph idx="1"/>
          </p:nvPr>
        </p:nvSpPr>
        <p:spPr>
          <a:xfrm>
            <a:off x="914161" y="4028828"/>
            <a:ext cx="10360501" cy="2807076"/>
          </a:xfrm>
        </p:spPr>
        <p:txBody>
          <a:bodyPr anchor="t" anchorCtr="0"/>
          <a:lstStyle/>
          <a:p>
            <a:pPr marL="0" indent="0">
              <a:buNone/>
            </a:pPr>
            <a:r>
              <a:rPr lang="en-IN" b="1" dirty="0">
                <a:solidFill>
                  <a:schemeClr val="accent1">
                    <a:lumMod val="60000"/>
                    <a:lumOff val="40000"/>
                  </a:schemeClr>
                </a:solidFill>
              </a:rPr>
              <a:t>Conclusion</a:t>
            </a:r>
            <a:r>
              <a:rPr lang="en-IN" dirty="0"/>
              <a:t>:</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Emotion detection working successfully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Model integrated with system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Reliable prediction achieved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System functionality improved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Ready for feature enhancement</a:t>
            </a:r>
            <a:r>
              <a:rPr lang="en-US" altLang="en-US" dirty="0">
                <a:latin typeface="Arial" panose="020B0604020202020204" pitchFamily="34" charset="0"/>
              </a:rPr>
              <a:t> </a:t>
            </a:r>
          </a:p>
          <a:p>
            <a:pPr marL="0" indent="0">
              <a:buNone/>
            </a:pPr>
            <a:endParaRPr lang="en-IN" dirty="0"/>
          </a:p>
          <a:p>
            <a:pPr marL="0" indent="0">
              <a:buNone/>
            </a:pPr>
            <a:endParaRPr lang="en-IN" dirty="0"/>
          </a:p>
          <a:p>
            <a:pPr marL="0" indent="0">
              <a:buNone/>
            </a:pPr>
            <a:endParaRPr lang="en-IN" dirty="0"/>
          </a:p>
          <a:p>
            <a:pPr marL="0" indent="0">
              <a:buNone/>
            </a:pPr>
            <a:endParaRPr lang="en-US" altLang="en-US" dirty="0">
              <a:latin typeface="Arial" panose="020B0604020202020204" pitchFamily="34" charset="0"/>
            </a:endParaRPr>
          </a:p>
          <a:p>
            <a:pPr marL="0" indent="0">
              <a:buNone/>
            </a:pPr>
            <a:endParaRPr lang="en-IN" dirty="0"/>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IN" dirty="0"/>
          </a:p>
          <a:p>
            <a:endParaRPr lang="en-IN" dirty="0"/>
          </a:p>
        </p:txBody>
      </p:sp>
      <p:sp>
        <p:nvSpPr>
          <p:cNvPr id="4" name="TextBox 3">
            <a:extLst>
              <a:ext uri="{FF2B5EF4-FFF2-40B4-BE49-F238E27FC236}">
                <a16:creationId xmlns:a16="http://schemas.microsoft.com/office/drawing/2014/main" id="{8C4DAACC-32C4-747F-CC0C-1028CC3CB489}"/>
              </a:ext>
            </a:extLst>
          </p:cNvPr>
          <p:cNvSpPr txBox="1"/>
          <p:nvPr/>
        </p:nvSpPr>
        <p:spPr>
          <a:xfrm>
            <a:off x="914160" y="692696"/>
            <a:ext cx="10360501" cy="3354765"/>
          </a:xfrm>
          <a:prstGeom prst="rect">
            <a:avLst/>
          </a:prstGeom>
          <a:noFill/>
        </p:spPr>
        <p:txBody>
          <a:bodyPr wrap="square" rtlCol="0">
            <a:spAutoFit/>
          </a:bodyPr>
          <a:lstStyle/>
          <a:p>
            <a:r>
              <a:rPr lang="en-IN" sz="2800" b="1" dirty="0">
                <a:solidFill>
                  <a:schemeClr val="accent1">
                    <a:lumMod val="40000"/>
                    <a:lumOff val="60000"/>
                  </a:schemeClr>
                </a:solidFill>
              </a:rPr>
              <a:t>Implementation:</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Integrated model and vectorizer with backend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Processed user input using preprocessing functions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Implemented mood prediction logic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Added fallback rule-based detection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Connected prediction result with frontend </a:t>
            </a:r>
          </a:p>
          <a:p>
            <a:endParaRPr lang="en-IN" sz="2800" b="1" dirty="0">
              <a:solidFill>
                <a:schemeClr val="accent1">
                  <a:lumMod val="40000"/>
                  <a:lumOff val="60000"/>
                </a:schemeClr>
              </a:solidFill>
            </a:endParaRPr>
          </a:p>
          <a:p>
            <a:endParaRPr lang="en-IN" sz="2800" b="1" dirty="0">
              <a:solidFill>
                <a:schemeClr val="accent1">
                  <a:lumMod val="40000"/>
                  <a:lumOff val="60000"/>
                </a:schemeClr>
              </a:solidFill>
            </a:endParaRPr>
          </a:p>
          <a:p>
            <a:endParaRPr lang="en-IN" sz="2800" b="1" dirty="0">
              <a:solidFill>
                <a:schemeClr val="accent1">
                  <a:lumMod val="40000"/>
                  <a:lumOff val="60000"/>
                </a:schemeClr>
              </a:solidFill>
            </a:endParaRPr>
          </a:p>
        </p:txBody>
      </p:sp>
      <p:sp>
        <p:nvSpPr>
          <p:cNvPr id="5" name="Rectangle 1">
            <a:extLst>
              <a:ext uri="{FF2B5EF4-FFF2-40B4-BE49-F238E27FC236}">
                <a16:creationId xmlns:a16="http://schemas.microsoft.com/office/drawing/2014/main" id="{EFF54BB9-8673-A244-9674-3FB142CAE3FE}"/>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246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39F42-798B-6AB0-D17E-0AA450E98975}"/>
              </a:ext>
            </a:extLst>
          </p:cNvPr>
          <p:cNvSpPr>
            <a:spLocks noGrp="1"/>
          </p:cNvSpPr>
          <p:nvPr>
            <p:ph type="title"/>
          </p:nvPr>
        </p:nvSpPr>
        <p:spPr/>
        <p:txBody>
          <a:bodyPr/>
          <a:lstStyle/>
          <a:p>
            <a:r>
              <a:rPr lang="en-IN" b="1" dirty="0">
                <a:solidFill>
                  <a:schemeClr val="accent1">
                    <a:lumMod val="40000"/>
                    <a:lumOff val="60000"/>
                  </a:schemeClr>
                </a:solidFill>
              </a:rPr>
              <a:t>Test UI:</a:t>
            </a:r>
          </a:p>
        </p:txBody>
      </p:sp>
      <p:pic>
        <p:nvPicPr>
          <p:cNvPr id="5" name="Content Placeholder 4">
            <a:extLst>
              <a:ext uri="{FF2B5EF4-FFF2-40B4-BE49-F238E27FC236}">
                <a16:creationId xmlns:a16="http://schemas.microsoft.com/office/drawing/2014/main" id="{2DEF26FD-E144-C198-EF64-E38F13F483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35442" y="1701800"/>
            <a:ext cx="6727540" cy="4462463"/>
          </a:xfrm>
          <a:prstGeom prst="rect">
            <a:avLst/>
          </a:prstGeom>
        </p:spPr>
      </p:pic>
    </p:spTree>
    <p:extLst>
      <p:ext uri="{BB962C8B-B14F-4D97-AF65-F5344CB8AC3E}">
        <p14:creationId xmlns:p14="http://schemas.microsoft.com/office/powerpoint/2010/main" val="2685761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6E31F-232C-DB73-A9B2-23FA99EB0ADB}"/>
              </a:ext>
            </a:extLst>
          </p:cNvPr>
          <p:cNvSpPr>
            <a:spLocks noGrp="1"/>
          </p:cNvSpPr>
          <p:nvPr>
            <p:ph type="title"/>
          </p:nvPr>
        </p:nvSpPr>
        <p:spPr/>
        <p:txBody>
          <a:bodyPr/>
          <a:lstStyle/>
          <a:p>
            <a:r>
              <a:rPr lang="en-IN" b="1" dirty="0">
                <a:solidFill>
                  <a:schemeClr val="accent1">
                    <a:lumMod val="40000"/>
                    <a:lumOff val="60000"/>
                  </a:schemeClr>
                </a:solidFill>
              </a:rPr>
              <a:t>Test Submission:</a:t>
            </a:r>
          </a:p>
        </p:txBody>
      </p:sp>
      <p:pic>
        <p:nvPicPr>
          <p:cNvPr id="5" name="Content Placeholder 4">
            <a:extLst>
              <a:ext uri="{FF2B5EF4-FFF2-40B4-BE49-F238E27FC236}">
                <a16:creationId xmlns:a16="http://schemas.microsoft.com/office/drawing/2014/main" id="{A4C401E5-8BC8-8AF8-322C-7DDB52890F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1884" y="1701800"/>
            <a:ext cx="8583591" cy="4462463"/>
          </a:xfrm>
          <a:prstGeom prst="rect">
            <a:avLst/>
          </a:prstGeom>
        </p:spPr>
      </p:pic>
    </p:spTree>
    <p:extLst>
      <p:ext uri="{BB962C8B-B14F-4D97-AF65-F5344CB8AC3E}">
        <p14:creationId xmlns:p14="http://schemas.microsoft.com/office/powerpoint/2010/main" val="469698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26815-DAB8-0015-A554-BEAD9699AE04}"/>
              </a:ext>
            </a:extLst>
          </p:cNvPr>
          <p:cNvSpPr>
            <a:spLocks noGrp="1"/>
          </p:cNvSpPr>
          <p:nvPr>
            <p:ph type="title"/>
          </p:nvPr>
        </p:nvSpPr>
        <p:spPr/>
        <p:txBody>
          <a:bodyPr/>
          <a:lstStyle/>
          <a:p>
            <a:r>
              <a:rPr lang="en-IN" b="1" dirty="0">
                <a:solidFill>
                  <a:schemeClr val="accent1">
                    <a:lumMod val="40000"/>
                    <a:lumOff val="60000"/>
                  </a:schemeClr>
                </a:solidFill>
              </a:rPr>
              <a:t>Mood Prediction:</a:t>
            </a:r>
          </a:p>
        </p:txBody>
      </p:sp>
      <p:pic>
        <p:nvPicPr>
          <p:cNvPr id="5" name="Content Placeholder 4">
            <a:extLst>
              <a:ext uri="{FF2B5EF4-FFF2-40B4-BE49-F238E27FC236}">
                <a16:creationId xmlns:a16="http://schemas.microsoft.com/office/drawing/2014/main" id="{A0F1E4DF-AD6D-AE2C-91EF-018E4FDB97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1498600"/>
            <a:ext cx="10360025" cy="4954736"/>
          </a:xfrm>
          <a:prstGeom prst="rect">
            <a:avLst/>
          </a:prstGeom>
        </p:spPr>
      </p:pic>
    </p:spTree>
    <p:extLst>
      <p:ext uri="{BB962C8B-B14F-4D97-AF65-F5344CB8AC3E}">
        <p14:creationId xmlns:p14="http://schemas.microsoft.com/office/powerpoint/2010/main" val="96290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9076-3A70-46D8-AF53-26C31BBC4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B624B-E5C7-5CC7-79CD-3C3D7503654F}"/>
              </a:ext>
            </a:extLst>
          </p:cNvPr>
          <p:cNvSpPr>
            <a:spLocks noGrp="1"/>
          </p:cNvSpPr>
          <p:nvPr>
            <p:ph type="title"/>
          </p:nvPr>
        </p:nvSpPr>
        <p:spPr>
          <a:xfrm>
            <a:off x="1125860" y="836712"/>
            <a:ext cx="10360501" cy="1223963"/>
          </a:xfrm>
        </p:spPr>
        <p:txBody>
          <a:bodyPr>
            <a:normAutofit fontScale="90000"/>
          </a:bodyPr>
          <a:lstStyle/>
          <a:p>
            <a:br>
              <a:rPr lang="en-IN" dirty="0">
                <a:solidFill>
                  <a:schemeClr val="accent1">
                    <a:lumMod val="75000"/>
                  </a:schemeClr>
                </a:solidFill>
              </a:rPr>
            </a:br>
            <a:r>
              <a:rPr lang="en-IN" b="1" dirty="0">
                <a:solidFill>
                  <a:schemeClr val="accent1">
                    <a:lumMod val="60000"/>
                    <a:lumOff val="40000"/>
                  </a:schemeClr>
                </a:solidFill>
              </a:rPr>
              <a:t>Week 8: </a:t>
            </a:r>
            <a:br>
              <a:rPr lang="en-IN" dirty="0"/>
            </a:br>
            <a:r>
              <a:rPr lang="en-IN" sz="3100" b="1" dirty="0">
                <a:solidFill>
                  <a:schemeClr val="accent1">
                    <a:lumMod val="60000"/>
                    <a:lumOff val="40000"/>
                  </a:schemeClr>
                </a:solidFill>
              </a:rPr>
              <a:t>Overview</a:t>
            </a:r>
            <a:r>
              <a:rPr lang="en-IN" dirty="0"/>
              <a:t>:</a:t>
            </a:r>
            <a:r>
              <a:rPr lang="en-US" sz="2400" dirty="0"/>
              <a:t>Focused on implementing core features and integrating them with the backend system.</a:t>
            </a:r>
            <a:br>
              <a:rPr lang="en-US" sz="2400" dirty="0"/>
            </a:br>
            <a:endParaRPr lang="en-IN" sz="2200" dirty="0"/>
          </a:p>
        </p:txBody>
      </p:sp>
      <p:sp>
        <p:nvSpPr>
          <p:cNvPr id="3" name="Content Placeholder 2">
            <a:extLst>
              <a:ext uri="{FF2B5EF4-FFF2-40B4-BE49-F238E27FC236}">
                <a16:creationId xmlns:a16="http://schemas.microsoft.com/office/drawing/2014/main" id="{1EAD83C1-ED1A-2B4B-D86A-3381FA47B3B4}"/>
              </a:ext>
            </a:extLst>
          </p:cNvPr>
          <p:cNvSpPr>
            <a:spLocks noGrp="1"/>
          </p:cNvSpPr>
          <p:nvPr>
            <p:ph idx="1"/>
          </p:nvPr>
        </p:nvSpPr>
        <p:spPr>
          <a:xfrm>
            <a:off x="1140256" y="2395728"/>
            <a:ext cx="10360501" cy="4462272"/>
          </a:xfrm>
        </p:spPr>
        <p:txBody>
          <a:bodyPr/>
          <a:lstStyle/>
          <a:p>
            <a:pPr marL="0" indent="0">
              <a:buNone/>
            </a:pPr>
            <a:r>
              <a:rPr lang="en-IN" b="1" dirty="0">
                <a:solidFill>
                  <a:schemeClr val="accent1">
                    <a:lumMod val="60000"/>
                    <a:lumOff val="40000"/>
                  </a:schemeClr>
                </a:solidFill>
              </a:rPr>
              <a:t>Discussions</a:t>
            </a:r>
            <a:r>
              <a:rPr lang="en-IN" dirty="0"/>
              <a:t>:</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Planned mood-based output and user interaction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Decided to store user test results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Planned recommendation system based on mood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Considered tracking user history </a:t>
            </a:r>
          </a:p>
          <a:p>
            <a:pPr marL="0" lvl="0" indent="0" defTabSz="914400" eaLnBrk="0" fontAlgn="base" hangingPunct="0">
              <a:lnSpc>
                <a:spcPct val="100000"/>
              </a:lnSpc>
              <a:spcBef>
                <a:spcPct val="0"/>
              </a:spcBef>
              <a:spcAft>
                <a:spcPct val="0"/>
              </a:spcAft>
              <a:buClrTx/>
              <a:buSzTx/>
              <a:buFontTx/>
              <a:buChar char="•"/>
            </a:pPr>
            <a:r>
              <a:rPr lang="en-US" altLang="en-US" sz="2000" dirty="0">
                <a:latin typeface="Arial" panose="020B0604020202020204" pitchFamily="34" charset="0"/>
              </a:rPr>
              <a:t>Focused on improving functionality</a:t>
            </a:r>
            <a:endParaRPr lang="en-IN" sz="2000" dirty="0"/>
          </a:p>
          <a:p>
            <a:pPr marL="0" indent="0">
              <a:buNone/>
            </a:pPr>
            <a:endParaRPr lang="en-IN" dirty="0"/>
          </a:p>
          <a:p>
            <a:pPr marL="0" indent="0">
              <a:buNone/>
            </a:pPr>
            <a:endParaRPr lang="en-IN" dirty="0"/>
          </a:p>
          <a:p>
            <a:pPr marL="0" indent="0">
              <a:buNone/>
            </a:pPr>
            <a:endParaRPr lang="en-IN" dirty="0"/>
          </a:p>
          <a:p>
            <a:pPr>
              <a:lnSpc>
                <a:spcPct val="100000"/>
              </a:lnSpc>
            </a:pPr>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US" sz="2000" dirty="0"/>
          </a:p>
          <a:p>
            <a:endParaRPr lang="en-US" sz="2000" dirty="0"/>
          </a:p>
          <a:p>
            <a:endParaRPr lang="en-IN" dirty="0"/>
          </a:p>
        </p:txBody>
      </p:sp>
      <p:sp>
        <p:nvSpPr>
          <p:cNvPr id="28" name="Rectangle 25">
            <a:extLst>
              <a:ext uri="{FF2B5EF4-FFF2-40B4-BE49-F238E27FC236}">
                <a16:creationId xmlns:a16="http://schemas.microsoft.com/office/drawing/2014/main" id="{81C739A2-A901-C888-3B58-E0CAD08ABF13}"/>
              </a:ext>
            </a:extLst>
          </p:cNvPr>
          <p:cNvSpPr>
            <a:spLocks noChangeArrowheads="1"/>
          </p:cNvSpPr>
          <p:nvPr/>
        </p:nvSpPr>
        <p:spPr bwMode="auto">
          <a:xfrm>
            <a:off x="0" y="-323166"/>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099BC343-F475-1A7A-4A97-9EA1121161F6}"/>
              </a:ext>
            </a:extLst>
          </p:cNvPr>
          <p:cNvSpPr>
            <a:spLocks noChangeArrowheads="1"/>
          </p:cNvSpPr>
          <p:nvPr/>
        </p:nvSpPr>
        <p:spPr bwMode="auto">
          <a:xfrm>
            <a:off x="477788" y="-201017"/>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BE4CC6CB-FF24-0CA9-0C37-C63DCF44E2EC}"/>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678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B9FA1-792D-5FD2-3B68-E226D03988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68F7E-8650-7903-DBBB-345A207D31CF}"/>
              </a:ext>
            </a:extLst>
          </p:cNvPr>
          <p:cNvSpPr>
            <a:spLocks noGrp="1"/>
          </p:cNvSpPr>
          <p:nvPr>
            <p:ph idx="1"/>
          </p:nvPr>
        </p:nvSpPr>
        <p:spPr>
          <a:xfrm>
            <a:off x="914161" y="4028828"/>
            <a:ext cx="10360501" cy="2807076"/>
          </a:xfrm>
        </p:spPr>
        <p:txBody>
          <a:bodyPr anchor="t" anchorCtr="0"/>
          <a:lstStyle/>
          <a:p>
            <a:pPr marL="0" indent="0">
              <a:buNone/>
            </a:pPr>
            <a:r>
              <a:rPr lang="en-IN" b="1" dirty="0">
                <a:solidFill>
                  <a:schemeClr val="accent1">
                    <a:lumMod val="60000"/>
                    <a:lumOff val="40000"/>
                  </a:schemeClr>
                </a:solidFill>
              </a:rPr>
              <a:t>Conclusion</a:t>
            </a:r>
            <a:r>
              <a:rPr lang="en-IN" dirty="0"/>
              <a:t>:</a:t>
            </a:r>
          </a:p>
          <a:p>
            <a:pPr marL="0" indent="0">
              <a:buNone/>
            </a:pPr>
            <a:endParaRPr lang="en-IN" dirty="0"/>
          </a:p>
          <a:p>
            <a:pPr marL="0" indent="0">
              <a:buNone/>
            </a:pPr>
            <a:endParaRPr lang="en-IN" dirty="0"/>
          </a:p>
          <a:p>
            <a:pPr marL="0" indent="0">
              <a:buNone/>
            </a:pPr>
            <a:endParaRPr lang="en-IN" dirty="0"/>
          </a:p>
          <a:p>
            <a:pPr marL="0" indent="0">
              <a:buNone/>
            </a:pPr>
            <a:endParaRPr lang="en-US" altLang="en-US" dirty="0">
              <a:latin typeface="Arial" panose="020B0604020202020204" pitchFamily="34" charset="0"/>
            </a:endParaRPr>
          </a:p>
          <a:p>
            <a:pPr marL="0" indent="0">
              <a:buNone/>
            </a:pPr>
            <a:endParaRPr lang="en-IN" dirty="0"/>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IN" dirty="0"/>
          </a:p>
          <a:p>
            <a:endParaRPr lang="en-IN" dirty="0"/>
          </a:p>
        </p:txBody>
      </p:sp>
      <p:sp>
        <p:nvSpPr>
          <p:cNvPr id="4" name="TextBox 3">
            <a:extLst>
              <a:ext uri="{FF2B5EF4-FFF2-40B4-BE49-F238E27FC236}">
                <a16:creationId xmlns:a16="http://schemas.microsoft.com/office/drawing/2014/main" id="{E5D80E9F-77A9-A439-7EA5-D03BB1C65C10}"/>
              </a:ext>
            </a:extLst>
          </p:cNvPr>
          <p:cNvSpPr txBox="1"/>
          <p:nvPr/>
        </p:nvSpPr>
        <p:spPr>
          <a:xfrm>
            <a:off x="914160" y="692696"/>
            <a:ext cx="10360501" cy="5324535"/>
          </a:xfrm>
          <a:prstGeom prst="rect">
            <a:avLst/>
          </a:prstGeom>
          <a:noFill/>
        </p:spPr>
        <p:txBody>
          <a:bodyPr wrap="square" rtlCol="0">
            <a:spAutoFit/>
          </a:bodyPr>
          <a:lstStyle/>
          <a:p>
            <a:r>
              <a:rPr lang="en-IN" sz="2800" b="1" dirty="0">
                <a:solidFill>
                  <a:schemeClr val="accent1">
                    <a:lumMod val="40000"/>
                    <a:lumOff val="60000"/>
                  </a:schemeClr>
                </a:solidFill>
              </a:rPr>
              <a:t>Implementation:</a:t>
            </a:r>
          </a:p>
          <a:p>
            <a:pPr lvl="0" defTabSz="914400" eaLnBrk="0" fontAlgn="base" hangingPunct="0">
              <a:spcBef>
                <a:spcPct val="0"/>
              </a:spcBef>
              <a:spcAft>
                <a:spcPct val="0"/>
              </a:spcAft>
            </a:pPr>
            <a:endParaRPr lang="en-US" altLang="en-US" sz="2800" dirty="0">
              <a:latin typeface="Arial" panose="020B0604020202020204" pitchFamily="34" charset="0"/>
            </a:endParaRPr>
          </a:p>
          <a:p>
            <a:pPr lvl="0" defTabSz="914400" eaLnBrk="0" fontAlgn="base" hangingPunct="0">
              <a:spcBef>
                <a:spcPct val="0"/>
              </a:spcBef>
              <a:spcAft>
                <a:spcPct val="0"/>
              </a:spcAft>
              <a:buFontTx/>
              <a:buChar char="•"/>
            </a:pPr>
            <a:r>
              <a:rPr lang="en-US" altLang="en-US" sz="2000" dirty="0">
                <a:latin typeface="Arial" panose="020B0604020202020204" pitchFamily="34" charset="0"/>
              </a:rPr>
              <a:t>Stored mood history in database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Implemented mood-based suggestions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Integrated YouTube API for video recommendations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Developed mood calendar feature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Added previous test checking functionality </a:t>
            </a:r>
          </a:p>
          <a:p>
            <a:endParaRPr lang="en-IN" sz="2800" b="1" dirty="0">
              <a:solidFill>
                <a:schemeClr val="accent1">
                  <a:lumMod val="40000"/>
                  <a:lumOff val="60000"/>
                </a:schemeClr>
              </a:solidFill>
            </a:endParaRPr>
          </a:p>
          <a:p>
            <a:endParaRPr lang="en-IN" sz="2800" b="1" dirty="0">
              <a:solidFill>
                <a:schemeClr val="accent1">
                  <a:lumMod val="40000"/>
                  <a:lumOff val="60000"/>
                </a:schemeClr>
              </a:solidFill>
            </a:endParaRPr>
          </a:p>
          <a:p>
            <a:endParaRPr lang="en-IN" sz="2800" b="1" dirty="0">
              <a:solidFill>
                <a:schemeClr val="accent1">
                  <a:lumMod val="40000"/>
                  <a:lumOff val="60000"/>
                </a:schemeClr>
              </a:solidFill>
            </a:endParaRPr>
          </a:p>
          <a:p>
            <a:pPr lvl="0" defTabSz="914400" eaLnBrk="0" fontAlgn="base" hangingPunct="0">
              <a:spcBef>
                <a:spcPct val="0"/>
              </a:spcBef>
              <a:spcAft>
                <a:spcPct val="0"/>
              </a:spcAft>
              <a:buFontTx/>
              <a:buChar char="•"/>
            </a:pPr>
            <a:r>
              <a:rPr lang="en-US" altLang="en-US" sz="2000" dirty="0">
                <a:latin typeface="Arial" panose="020B0604020202020204" pitchFamily="34" charset="0"/>
              </a:rPr>
              <a:t>Core features successfully implemented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Backend functionality enhanced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User data tracking enabled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Recommendation system working </a:t>
            </a:r>
          </a:p>
          <a:p>
            <a:pPr lvl="0" defTabSz="914400" eaLnBrk="0" fontAlgn="base" hangingPunct="0">
              <a:spcBef>
                <a:spcPct val="0"/>
              </a:spcBef>
              <a:spcAft>
                <a:spcPct val="0"/>
              </a:spcAft>
              <a:buFontTx/>
              <a:buChar char="•"/>
            </a:pPr>
            <a:r>
              <a:rPr lang="en-US" altLang="en-US" sz="2000" dirty="0">
                <a:latin typeface="Arial" panose="020B0604020202020204" pitchFamily="34" charset="0"/>
              </a:rPr>
              <a:t>System ready for further improvements</a:t>
            </a:r>
            <a:endParaRPr lang="en-IN" sz="2000" b="1" dirty="0">
              <a:solidFill>
                <a:schemeClr val="accent1">
                  <a:lumMod val="40000"/>
                  <a:lumOff val="60000"/>
                </a:schemeClr>
              </a:solidFill>
            </a:endParaRPr>
          </a:p>
        </p:txBody>
      </p:sp>
      <p:sp>
        <p:nvSpPr>
          <p:cNvPr id="5" name="Rectangle 1">
            <a:extLst>
              <a:ext uri="{FF2B5EF4-FFF2-40B4-BE49-F238E27FC236}">
                <a16:creationId xmlns:a16="http://schemas.microsoft.com/office/drawing/2014/main" id="{086A3090-BD71-DF0B-3AED-97F8C556D529}"/>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4007AEE5-B9A9-0471-03FD-555987BE6EFF}"/>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5054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C4A38-233A-1782-4E31-9DD966382101}"/>
              </a:ext>
            </a:extLst>
          </p:cNvPr>
          <p:cNvSpPr>
            <a:spLocks noGrp="1"/>
          </p:cNvSpPr>
          <p:nvPr>
            <p:ph type="title"/>
          </p:nvPr>
        </p:nvSpPr>
        <p:spPr/>
        <p:txBody>
          <a:bodyPr/>
          <a:lstStyle/>
          <a:p>
            <a:r>
              <a:rPr lang="en-IN" b="1" dirty="0">
                <a:solidFill>
                  <a:schemeClr val="accent1">
                    <a:lumMod val="40000"/>
                    <a:lumOff val="60000"/>
                  </a:schemeClr>
                </a:solidFill>
              </a:rPr>
              <a:t>Recommendation:</a:t>
            </a:r>
          </a:p>
        </p:txBody>
      </p:sp>
      <p:pic>
        <p:nvPicPr>
          <p:cNvPr id="5" name="Content Placeholder 4">
            <a:extLst>
              <a:ext uri="{FF2B5EF4-FFF2-40B4-BE49-F238E27FC236}">
                <a16:creationId xmlns:a16="http://schemas.microsoft.com/office/drawing/2014/main" id="{6470EC29-9EB7-67C5-FD06-54CFFCC5BC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2207617"/>
            <a:ext cx="10360025" cy="3450829"/>
          </a:xfrm>
          <a:prstGeom prst="rect">
            <a:avLst/>
          </a:prstGeom>
        </p:spPr>
      </p:pic>
    </p:spTree>
    <p:extLst>
      <p:ext uri="{BB962C8B-B14F-4D97-AF65-F5344CB8AC3E}">
        <p14:creationId xmlns:p14="http://schemas.microsoft.com/office/powerpoint/2010/main" val="2447261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A1D6-4A81-A976-88FD-1F7079AF57F9}"/>
              </a:ext>
            </a:extLst>
          </p:cNvPr>
          <p:cNvSpPr>
            <a:spLocks noGrp="1"/>
          </p:cNvSpPr>
          <p:nvPr>
            <p:ph type="title"/>
          </p:nvPr>
        </p:nvSpPr>
        <p:spPr/>
        <p:txBody>
          <a:bodyPr/>
          <a:lstStyle/>
          <a:p>
            <a:r>
              <a:rPr lang="en-IN" b="1" dirty="0">
                <a:solidFill>
                  <a:schemeClr val="accent1">
                    <a:lumMod val="40000"/>
                    <a:lumOff val="60000"/>
                  </a:schemeClr>
                </a:solidFill>
              </a:rPr>
              <a:t>Mood  Calendar:</a:t>
            </a:r>
          </a:p>
        </p:txBody>
      </p:sp>
      <p:pic>
        <p:nvPicPr>
          <p:cNvPr id="5" name="Content Placeholder 4">
            <a:extLst>
              <a:ext uri="{FF2B5EF4-FFF2-40B4-BE49-F238E27FC236}">
                <a16:creationId xmlns:a16="http://schemas.microsoft.com/office/drawing/2014/main" id="{9C0327A0-2B29-8D28-C841-2E01E79D32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1999202"/>
            <a:ext cx="10360025" cy="3867658"/>
          </a:xfrm>
          <a:prstGeom prst="rect">
            <a:avLst/>
          </a:prstGeom>
        </p:spPr>
      </p:pic>
    </p:spTree>
    <p:extLst>
      <p:ext uri="{BB962C8B-B14F-4D97-AF65-F5344CB8AC3E}">
        <p14:creationId xmlns:p14="http://schemas.microsoft.com/office/powerpoint/2010/main" val="792964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48A70-672D-9E38-B0D0-FDA7E5B6E225}"/>
              </a:ext>
            </a:extLst>
          </p:cNvPr>
          <p:cNvSpPr>
            <a:spLocks noGrp="1"/>
          </p:cNvSpPr>
          <p:nvPr>
            <p:ph type="title"/>
          </p:nvPr>
        </p:nvSpPr>
        <p:spPr/>
        <p:txBody>
          <a:bodyPr/>
          <a:lstStyle/>
          <a:p>
            <a:r>
              <a:rPr lang="en-IN" b="1" dirty="0">
                <a:solidFill>
                  <a:schemeClr val="accent1">
                    <a:lumMod val="40000"/>
                    <a:lumOff val="60000"/>
                  </a:schemeClr>
                </a:solidFill>
              </a:rPr>
              <a:t>Conclusion:</a:t>
            </a:r>
          </a:p>
        </p:txBody>
      </p:sp>
      <p:sp>
        <p:nvSpPr>
          <p:cNvPr id="3" name="Content Placeholder 2">
            <a:extLst>
              <a:ext uri="{FF2B5EF4-FFF2-40B4-BE49-F238E27FC236}">
                <a16:creationId xmlns:a16="http://schemas.microsoft.com/office/drawing/2014/main" id="{0160D0B3-11F8-71AE-2CA5-7401221DAFF6}"/>
              </a:ext>
            </a:extLst>
          </p:cNvPr>
          <p:cNvSpPr>
            <a:spLocks noGrp="1"/>
          </p:cNvSpPr>
          <p:nvPr>
            <p:ph idx="1"/>
          </p:nvPr>
        </p:nvSpPr>
        <p:spPr>
          <a:xfrm>
            <a:off x="1212647" y="2368448"/>
            <a:ext cx="10360501" cy="4462272"/>
          </a:xfrm>
        </p:spPr>
        <p:txBody>
          <a:bodyPr/>
          <a:lstStyle/>
          <a:p>
            <a:pPr marL="0" indent="0" algn="just">
              <a:buNone/>
            </a:pPr>
            <a:r>
              <a:rPr lang="en-US" dirty="0"/>
              <a:t>We developed an AI-based system that predicts user emotions from text using machine learning. The project includes model training, backend integration, user authentication, and mood-based recommendations. Some features are still under development, leaving scope for further improvements and enhancements.</a:t>
            </a:r>
            <a:endParaRPr lang="en-IN" dirty="0"/>
          </a:p>
        </p:txBody>
      </p:sp>
    </p:spTree>
    <p:extLst>
      <p:ext uri="{BB962C8B-B14F-4D97-AF65-F5344CB8AC3E}">
        <p14:creationId xmlns:p14="http://schemas.microsoft.com/office/powerpoint/2010/main" val="3160555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3.xml><?xml version="1.0" encoding="utf-8"?>
<ds:datastoreItem xmlns:ds="http://schemas.openxmlformats.org/officeDocument/2006/customXml" ds:itemID="{60C67BEE-D13F-4BD2-98A5-34D8A0977F68}">
  <ds:schemaRefs>
    <ds:schemaRef ds:uri="http://purl.org/dc/terms/"/>
    <ds:schemaRef ds:uri="4873beb7-5857-4685-be1f-d57550cc96cc"/>
    <ds:schemaRef ds:uri="http://purl.org/dc/dcmitype/"/>
    <ds:schemaRef ds:uri="http://schemas.openxmlformats.org/package/2006/metadata/core-properties"/>
    <ds:schemaRef ds:uri="http://schemas.microsoft.com/office/2006/documentManagement/types"/>
    <ds:schemaRef ds:uri="http://www.w3.org/XML/1998/namespace"/>
    <ds:schemaRef ds:uri="http://purl.org/dc/elements/1.1/"/>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368</TotalTime>
  <Words>1595</Words>
  <Application>Microsoft Office PowerPoint</Application>
  <PresentationFormat>Custom</PresentationFormat>
  <Paragraphs>339</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Arial Unicode MS</vt:lpstr>
      <vt:lpstr>Calibri</vt:lpstr>
      <vt:lpstr>Times New Roman</vt:lpstr>
      <vt:lpstr>Wingdings</vt:lpstr>
      <vt:lpstr>Tech 16x9</vt:lpstr>
      <vt:lpstr>AI-Powered Mental Health Monitoring and recommendation System</vt:lpstr>
      <vt:lpstr>Team Members:</vt:lpstr>
      <vt:lpstr>Introduction:</vt:lpstr>
      <vt:lpstr>Problem Statement:</vt:lpstr>
      <vt:lpstr>Objectives:</vt:lpstr>
      <vt:lpstr>SDLC (Software Development Life Cycle)</vt:lpstr>
      <vt:lpstr>Software Requirements Specification (SRS)</vt:lpstr>
      <vt:lpstr>PowerPoint Presentation</vt:lpstr>
      <vt:lpstr>Non Functional Requirement:</vt:lpstr>
      <vt:lpstr>System Requirements:</vt:lpstr>
      <vt:lpstr>System Design:</vt:lpstr>
      <vt:lpstr>System Architecture:</vt:lpstr>
      <vt:lpstr>Implementation:  Week 1:</vt:lpstr>
      <vt:lpstr>Implementation:</vt:lpstr>
      <vt:lpstr>Week 2:</vt:lpstr>
      <vt:lpstr>Implementation:</vt:lpstr>
      <vt:lpstr>Week 3:</vt:lpstr>
      <vt:lpstr>Implementation:</vt:lpstr>
      <vt:lpstr> Week 4:  Overview:Started backend development to build the core structure of the application.</vt:lpstr>
      <vt:lpstr>   Implementation:  Setup Flask structure   Loaded model and vectorizer   Added preprocessing logic   Created routes: /, /login, /register   Organized backend code   </vt:lpstr>
      <vt:lpstr> Week 5:  Overview:Focused on implementing database and user authentication to manage user data securely..</vt:lpstr>
      <vt:lpstr> Implementation:   Created database and tables   Implemented registration system   Added login functionality   Applied password hashing   Managed user sessions     </vt:lpstr>
      <vt:lpstr> Week 6:  Overview:Focused on developing the user interface and connecting it with the backend.</vt:lpstr>
      <vt:lpstr>PowerPoint Presentation</vt:lpstr>
      <vt:lpstr>Register Page:</vt:lpstr>
      <vt:lpstr>Login Page:</vt:lpstr>
      <vt:lpstr>Home Page:</vt:lpstr>
      <vt:lpstr> Week 7:  Overview:Integrated the trained ML model with the backend to enable emotion detection. </vt:lpstr>
      <vt:lpstr>PowerPoint Presentation</vt:lpstr>
      <vt:lpstr>Test UI:</vt:lpstr>
      <vt:lpstr>Test Submission:</vt:lpstr>
      <vt:lpstr>Mood Prediction:</vt:lpstr>
      <vt:lpstr> Week 8:  Overview:Focused on implementing core features and integrating them with the backend system. </vt:lpstr>
      <vt:lpstr>PowerPoint Presentation</vt:lpstr>
      <vt:lpstr>Recommendation:</vt:lpstr>
      <vt:lpstr>Mood  Calendar: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Shlok Ekhande</dc:creator>
  <cp:lastModifiedBy>Shlok Ekhande</cp:lastModifiedBy>
  <cp:revision>3</cp:revision>
  <dcterms:created xsi:type="dcterms:W3CDTF">2026-03-28T03:28:49Z</dcterms:created>
  <dcterms:modified xsi:type="dcterms:W3CDTF">2026-03-30T08:45:14Z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